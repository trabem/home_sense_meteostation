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1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5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media/image1.png" ContentType="image/png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uk-UA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uk-U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uk-U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uk-U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uk-U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uk-U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uk-U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uk-U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uk-U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uk-U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BFB3874-6D34-4AEB-B742-341DC72D08A9}" type="slidenum">
              <a:rPr b="0" lang="uk-U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uk-U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7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uk-UA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Вітаю! Мій фінальний проєкт — автономна метеостанція на ESP32-C3.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uk-UA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Це не лише програма для мікроконтролера: розроблено дві друковані плати, прошивку та два канали передачі даних.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uk-UA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Основна інженерна ідея — збирати метеодані й енергетичну телеметрію, миттєво реагувати на блискавку та проводити більшість часу в deep sleep.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92381A9-E9B1-4806-B457-A16329B13E42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uk-U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8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uk-UA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Постановка задачі визначається трьома обмеженнями: автономне живлення, асинхронні грозові події та різні можливості каналу зв’язку.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uk-UA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Тому архітектура не будується навколо постійно активного контролера. Натомість реалізовано цикл пробудження та два незалежні сценарії: періодична телеметрія і блискавка.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uk-UA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Число 300 секунд — конфігурований інтервал за замовчуванням, а не результат вимірювання автономності.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91947F4-ABAF-4EBB-BDBA-2FE071EF62A4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uk-U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8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uk-UA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На цій діаграмі видно основні межі системи. Датчики підключені до спільної шини I²C, радіомодуль SX1262 — через SPI.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uk-UA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Прошивка формує предметну модель даних і лише потім обирає кодек і транспорт. Це зменшує зв’язність: драйвер BME280 нічого не знає про MQTT чи LoRa.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uk-UA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Живлення має три джерела: USB, Solar та 1S LiFePO4. J4 вибирає канал, але не вмикає чи вимикає Wi-Fi як окрему функцію.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C5D991A-1650-4FF3-BE69-32412A9EE85E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uk-U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8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uk-UA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Апаратна частина розділена на основну плату та плату датчиків. Основна плата містить ESP32-C3, LoRa-модуль, RTC, вимірювання живлення та ланцюг TP5000 + TPS2121.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uk-UA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Плата датчиків виносить BME280 і AS3935. Сигнал AS3935 підключений до GPIO1 і використовується як джерело пробудження.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uk-UA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На слайді показано реальний 3D-рендер основної плати з поточного KiCad-проєкту, а не концептуальну ілюстрацію.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7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8C7897A-7733-4430-BDAF-613F25B958CE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uk-U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8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uk-UA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BME280 дає три базові метеопараметри. AS3935 формує подію з відстанню та, за наявності, енергією.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uk-UA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Два INA226 окремо вимірюють напругу, струм і потужність батареї та сонячного входу. Це дозволяє передавати не лише погоду, а й стан самої автономної системи.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uk-UA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DS3231 дає timestamp, PCA9536 зчитує J4 і стани зарядки. Усі шість пристроїв працюють на одному I²C-bus за адресами, наведеними внизу.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0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237691D-28B7-4165-BC2A-56E509211788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uk-U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9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uk-UA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Прошивка організована як набір ESP-IDF components. app_main мінімальний; app.c є composition root.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uk-UA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app_flow та telemetry — чисті модулі, які не залежать від периферії та HAL. Драйвери відповідають лише за пристрої, board ізолює фізичний pinout.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uk-UA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Таке розділення спрощує перевірку та зміни: наприклад, формат JSON не проникає в sensor driver, а номер GPIO не дублюється по проєкту.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3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FEFDD67-4486-49F9-BBAF-D1E5A62715B6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uk-U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9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uk-UA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Ключове рішення — не розподіляти сенсори по окремих FreeRTOS tasks. Є один application task, який володіє послідовністю вимірювання, передачі та сну.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uk-UA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Асинхронність потрібна лише на межах: GPIO ISR надсилає direct task notification, Wi-Fi і MQTT callbacks переводяться в EventGroup, SX1262 DIO1 — у binary semaphore. SPI queue_size=1 — це налаштування драйвера, не application queue.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uk-UA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xQueue не використовується для WAKE_IRQ, бо подія не несе payload. Фактичні дані лишаються в регістрах AS3935 і зчитуються вже у task context; це зменшує ISR, heap і клас помилок переповнення черги.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6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952CF01-231B-4774-A4F9-41502A411E1B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uk-U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9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uk-UA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На щіральному слайді я показую не функціональну відсутність, а архітектурний trade-off. Поточний цикл формує максимум boot + telemetry або одну lightning-подію і одразу передає її.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uk-UA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Якщо передача не вдалася, діагностичний лічильник збільшується, активне вікно завершується, пристрій повертається до сну. Це дає bounded memory і не записує кожен цикл у flash.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uk-UA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Ціна — можлива втрата поточного sample під час outage. Persistent queue можна додати лише як bounded ring buffer після польових даних, з окремою перевіркою зносу пам’яті, corruption, ordering і replay. FRAM не входить у V1.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9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FE403E0-ED70-4A18-8B47-D6FB0EE77483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uk-U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60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uk-UA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Енергозбереження реалізоване як сквозна властивість, а не окремий виклик esp_deep_sleep_start.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uk-UA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Перед сном prepare_sleep послідовно зупиняє мережеві функції, вимикає INA226, переводить BME280 і SX1262 у сон, налаштовує timer та GPIO wake.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uk-UA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Виміряне споживання всієї плати: 80 мА під час активного циклу тривалістю 5–7 секунд і 405 мкА у deep sleep. За штатного інтервалу 10 хвилин це дає середній струм близько 1,2 мА; основний внесок у циклі — активна фаза, а у добовому балансі — струм сну.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uk-UA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405 мкА значно перевищує deep sleep самого ESP32-C3 (одиниці мкА), отже головний резерв оптимізації — периферія та ланцюги живлення плати.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uk-UA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USB передбачено continuous mode: зручно налагоджувати плату, моніторити лог і працювати з provisioning без автоматичного засинання.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2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EE23FC8-2D74-4325-A430-248A56E0CD5B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uk-U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60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uk-UA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Блискавка є другим, незалежним сценарієм. WAKE_IRQ будить контролер, після чого lightning_service обов’язково зчитує причину переривання AS3935.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uk-UA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Якщо причина не lightning, жодна подія не передається. Якщо подія підтверджена, надсилаються timestamp, distance та energy за наявності.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uk-UA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У цьому циклі навмисно не зчитуються BME280 і INA226: коротший шлях зменшує затримку й активний час.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5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1C2B7FE-4406-46E5-8B7B-64604EB2B9DB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uk-U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60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uk-UA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J4 — це свідомий вибір архітектури зв’язку. Розімкнений J4 відповідає LoRa і є безпечним за замовчуванням варіантом: Wi-Fi і BLE узагалі не ініціалізуються.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uk-UA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Замкнений J4 вмикає сценарій Wi-Fi + MQTT. Якщо credentials відсутні, запускається BLE provisioning. LoRa працює TX-only — це не LoRaWAN і немає ACK чи retries.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uk-UA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Автоматичний fallback Wi-Fi до LoRa відсутній, тож поведінка пристрою передбачувана.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8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B940089-1E04-499F-A98B-7CA891CDAA05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uk-U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61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uk-UA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Обидва транспорти використовують спільну предметну модель, але різні кодеки. MQTT отримує JSON, LoRa — компактний binary frame.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uk-UA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У LoRa-заголовку є версія протоколу, тип повідомлення, hash пристрою, timestamp і flags. Поля даних присутні лише за відповідних validity bits.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uk-UA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Максимальний telemetry frame — 39 байт; lightning — 12 або 16; boot — 15. JSON на слайді є ілюстративним фрагментом, не точним шаблоном усіх полів.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1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D9525EC-3352-47B1-8BB4-FEC44437307F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uk-U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61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uk-UA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Надійність проявляється насамперед у graceful degradation: частина телеметрії може бути валідною навіть за відмови одного датчика.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uk-UA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Усі зовнішні операції обмежені часом, Wi-Fi має максимум три спроби підключення, після чого пристрій повертається до сну.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uk-UA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Безпека: production MQTT використовує TLS з перевіркою сертифіката; BLE provisioning має унікальний per-device PoP. Паролі та PoP не повинні потрапляти в логи. Watchdog і brownout залишаються увімкненими.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4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67A42A9-07A2-4E3A-AF13-CCFB51B1EBDB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uk-U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61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uk-UA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Результат — цілісний інженерний прототип: hardware, firmware, протоколи, provisioning та енергозбереження.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uk-UA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При цьому V1 свідомо не містить backend, web UI, OTA, LoRaWAN чи persistent queue. Це не приховані недоробки, а зафіксовані межі обсягу.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uk-UA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Наступний практичний крок — польові випробування та зниження струму сну: виміряні 405 мкА помітно перевищують deep sleep самого ESP32-C3, тож резерв автономності — у периферії та живленні. Саме ці дані мають визначити, чи потрібні черга повідомлень, OTA або інші розширення.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7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E917BBE-84B5-4B7F-A877-13F80FDAF435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uk-U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61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uk-UA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Дякую за увагу!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uk-UA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Головний результат проєкту — не окремий датчик чи бібліотека, а завершений ланцюжок: живлення → вимірювання → обробка → передача → сон.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uk-UA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Готовий відповісти на питання про схемотехніку, структуру прошивки, формати даних та енергозбереження.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0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F36CF7A-2F37-4666-856F-7DFCDD4A3725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uk-U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Master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uk-U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uk-U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uk-U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uk-U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AA87B6B-27E4-4FA1-93A1-F80BD4F24BF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12</a:t>
            </a:fld>
            <a:endParaRPr b="0" lang="uk-U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uk-U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uk-U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uk-U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uk-U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0E62757-A6ED-438F-9364-0AFE6CAC6DA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12</a:t>
            </a:fld>
            <a:endParaRPr b="0" lang="uk-U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uk-U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uk-U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uk-U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uk-U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F0C209C-B496-4522-9234-6A2E45320A0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12</a:t>
            </a:fld>
            <a:endParaRPr b="0" lang="uk-U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uk-U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uk-U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uk-U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uk-U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82CF68E-67D2-4DC7-A9BD-F3BC92E39E7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12</a:t>
            </a:fld>
            <a:endParaRPr b="0" lang="uk-U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k</a:t>
            </a: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uk-U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uk-U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uk-U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uk-U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D6AB56C-A3BC-49F3-9781-55255B6654E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12</a:t>
            </a:fld>
            <a:endParaRPr b="0" lang="uk-U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uk-U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uk-U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uk-U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uk-U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83D1B08-DDD8-423B-AA96-603ED71FA8B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12</a:t>
            </a:fld>
            <a:endParaRPr b="0" lang="uk-U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uk-U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uk-U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uk-U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uk-U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EE53D7D-9BFF-45B1-8E8E-FDDCF4CD9F3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12</a:t>
            </a:fld>
            <a:endParaRPr b="0" lang="uk-U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uk-U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uk-U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uk-U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uk-U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6E56A07-5ADA-4D06-A04B-539AEA8E41C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12</a:t>
            </a:fld>
            <a:endParaRPr b="0" lang="uk-U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uk-U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uk-U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uk-U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uk-U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F27DDEA-A9D3-426A-8025-60C5FCD90AA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12</a:t>
            </a:fld>
            <a:endParaRPr b="0" lang="uk-U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uk-U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uk-U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uk-U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uk-U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D75F514-6DC7-4361-BC9C-423B687A6AC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uk-U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uk-U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uk-U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uk-U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uk-U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4894422-912C-42CC-B864-C968881192B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uk-U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1"/>
          <p:cNvSpPr/>
          <p:nvPr/>
        </p:nvSpPr>
        <p:spPr>
          <a:xfrm>
            <a:off x="0" y="0"/>
            <a:ext cx="127800" cy="6857640"/>
          </a:xfrm>
          <a:prstGeom prst="rect">
            <a:avLst/>
          </a:prstGeom>
          <a:solidFill>
            <a:srgbClr val="20c9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" name="Oval 2"/>
          <p:cNvSpPr/>
          <p:nvPr/>
        </p:nvSpPr>
        <p:spPr>
          <a:xfrm>
            <a:off x="8549640" y="-1234440"/>
            <a:ext cx="4937400" cy="4937400"/>
          </a:xfrm>
          <a:prstGeom prst="ellipse">
            <a:avLst/>
          </a:prstGeom>
          <a:solidFill>
            <a:srgbClr val="0d26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" name="Oval 3"/>
          <p:cNvSpPr/>
          <p:nvPr/>
        </p:nvSpPr>
        <p:spPr>
          <a:xfrm>
            <a:off x="9281160" y="5394960"/>
            <a:ext cx="2057040" cy="2057040"/>
          </a:xfrm>
          <a:prstGeom prst="ellipse">
            <a:avLst/>
          </a:prstGeom>
          <a:solidFill>
            <a:srgbClr val="0d26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" name="Rounded Rectangle 4"/>
          <p:cNvSpPr/>
          <p:nvPr/>
        </p:nvSpPr>
        <p:spPr>
          <a:xfrm>
            <a:off x="685800" y="567000"/>
            <a:ext cx="2239920" cy="292320"/>
          </a:xfrm>
          <a:prstGeom prst="roundRect">
            <a:avLst>
              <a:gd name="adj" fmla="val 12000"/>
            </a:avLst>
          </a:prstGeom>
          <a:solidFill>
            <a:srgbClr val="20c9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" name="TextBox 5"/>
          <p:cNvSpPr/>
          <p:nvPr/>
        </p:nvSpPr>
        <p:spPr>
          <a:xfrm>
            <a:off x="685800" y="571680"/>
            <a:ext cx="22399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1000" strike="noStrike" u="none">
                <a:solidFill>
                  <a:srgbClr val="081b26"/>
                </a:solidFill>
                <a:effectLst/>
                <a:uFillTx/>
                <a:latin typeface="Arial"/>
              </a:rPr>
              <a:t>ФІНАЛЬНИЙ ПРОЄКТ КУРСУ</a:t>
            </a:r>
            <a:endParaRPr b="0" lang="uk-UA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6"/>
          <p:cNvSpPr/>
          <p:nvPr/>
        </p:nvSpPr>
        <p:spPr>
          <a:xfrm>
            <a:off x="685800" y="1261800"/>
            <a:ext cx="5806080" cy="15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b="1" lang="en-US" sz="3600" strike="noStrike" u="none">
                <a:solidFill>
                  <a:srgbClr val="f7fafa"/>
                </a:solidFill>
                <a:effectLst/>
                <a:uFillTx/>
                <a:latin typeface="Bahnschrift"/>
              </a:rPr>
              <a:t>Автономна</a:t>
            </a:r>
            <a:endParaRPr b="0" lang="uk-UA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</a:pPr>
            <a:r>
              <a:rPr b="1" lang="en-US" sz="3600" strike="noStrike" u="none">
                <a:solidFill>
                  <a:srgbClr val="f7fafa"/>
                </a:solidFill>
                <a:effectLst/>
                <a:uFillTx/>
                <a:latin typeface="Bahnschrift"/>
              </a:rPr>
              <a:t>метеостанція</a:t>
            </a:r>
            <a:endParaRPr b="0" lang="uk-UA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7"/>
          <p:cNvSpPr/>
          <p:nvPr/>
        </p:nvSpPr>
        <p:spPr>
          <a:xfrm>
            <a:off x="722520" y="2926080"/>
            <a:ext cx="47545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b="0" lang="en-US" sz="1800" strike="noStrike" u="none">
                <a:solidFill>
                  <a:srgbClr val="9bb0b8"/>
                </a:solidFill>
                <a:effectLst/>
                <a:uFillTx/>
                <a:latin typeface="Arial"/>
              </a:rPr>
              <a:t>Від живлення та датчиків —</a:t>
            </a:r>
            <a:endParaRPr b="0" lang="uk-U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</a:pPr>
            <a:r>
              <a:rPr b="0" lang="en-US" sz="1800" strike="noStrike" u="none">
                <a:solidFill>
                  <a:srgbClr val="9bb0b8"/>
                </a:solidFill>
                <a:effectLst/>
                <a:uFillTx/>
                <a:latin typeface="Arial"/>
              </a:rPr>
              <a:t>до надійної передачі даних</a:t>
            </a:r>
            <a:endParaRPr b="0" lang="uk-U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72" name="Connector 8"/>
          <p:cNvCxnSpPr/>
          <p:nvPr/>
        </p:nvCxnSpPr>
        <p:spPr>
          <a:xfrm>
            <a:off x="722160" y="3995640"/>
            <a:ext cx="3685320" cy="360"/>
          </a:xfrm>
          <a:prstGeom prst="straightConnector1">
            <a:avLst/>
          </a:prstGeom>
          <a:ln w="12700">
            <a:solidFill>
              <a:srgbClr val="28434d"/>
            </a:solidFill>
            <a:round/>
          </a:ln>
        </p:spPr>
      </p:cxnSp>
      <p:sp>
        <p:nvSpPr>
          <p:cNvPr id="73" name="TextBox 9"/>
          <p:cNvSpPr/>
          <p:nvPr/>
        </p:nvSpPr>
        <p:spPr>
          <a:xfrm>
            <a:off x="722520" y="4233600"/>
            <a:ext cx="5394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f7fafa"/>
                </a:solidFill>
                <a:effectLst/>
                <a:uFillTx/>
                <a:latin typeface="Arial"/>
              </a:rPr>
              <a:t>ESP32-C3</a:t>
            </a:r>
            <a:r>
              <a:rPr b="0" lang="en-US" sz="1400" strike="noStrike" u="none">
                <a:solidFill>
                  <a:srgbClr val="20c9a6"/>
                </a:solidFill>
                <a:effectLst/>
                <a:uFillTx/>
                <a:latin typeface="Arial"/>
              </a:rPr>
              <a:t>   •   </a:t>
            </a:r>
            <a:r>
              <a:rPr b="1" lang="en-US" sz="1400" strike="noStrike" u="none">
                <a:solidFill>
                  <a:srgbClr val="f7fafa"/>
                </a:solidFill>
                <a:effectLst/>
                <a:uFillTx/>
                <a:latin typeface="Arial"/>
              </a:rPr>
              <a:t>LoRa / MQTT</a:t>
            </a:r>
            <a:r>
              <a:rPr b="0" lang="en-US" sz="1400" strike="noStrike" u="none">
                <a:solidFill>
                  <a:srgbClr val="20c9a6"/>
                </a:solidFill>
                <a:effectLst/>
                <a:uFillTx/>
                <a:latin typeface="Arial"/>
              </a:rPr>
              <a:t>   •   </a:t>
            </a:r>
            <a:r>
              <a:rPr b="1" lang="en-US" sz="1400" strike="noStrike" u="none">
                <a:solidFill>
                  <a:srgbClr val="f7fafa"/>
                </a:solidFill>
                <a:effectLst/>
                <a:uFillTx/>
                <a:latin typeface="Arial"/>
              </a:rPr>
              <a:t>Solar / LiFePO₄</a:t>
            </a:r>
            <a:endParaRPr b="0" lang="uk-UA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10"/>
          <p:cNvSpPr/>
          <p:nvPr/>
        </p:nvSpPr>
        <p:spPr>
          <a:xfrm>
            <a:off x="722520" y="4818960"/>
            <a:ext cx="5028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100" strike="noStrike" u="none">
                <a:solidFill>
                  <a:srgbClr val="9bb0b8"/>
                </a:solidFill>
                <a:effectLst/>
                <a:uFillTx/>
                <a:latin typeface="Cascadia Mono"/>
              </a:rPr>
              <a:t>KiCad  +  ESP-IDF  +  FreeRTOS  +  C11</a:t>
            </a:r>
            <a:endParaRPr b="0" lang="uk-UA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5" name="Picture 11" descr="main_board_3d.png"/>
          <p:cNvPicPr/>
          <p:nvPr/>
        </p:nvPicPr>
        <p:blipFill>
          <a:blip r:embed="rId1"/>
          <a:stretch/>
        </p:blipFill>
        <p:spPr>
          <a:xfrm>
            <a:off x="5623560" y="1350360"/>
            <a:ext cx="6263280" cy="4165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" name="Rounded Rectangle 12"/>
          <p:cNvSpPr/>
          <p:nvPr/>
        </p:nvSpPr>
        <p:spPr>
          <a:xfrm>
            <a:off x="6400800" y="5340240"/>
            <a:ext cx="959760" cy="292320"/>
          </a:xfrm>
          <a:prstGeom prst="roundRect">
            <a:avLst>
              <a:gd name="adj" fmla="val 12000"/>
            </a:avLst>
          </a:prstGeom>
          <a:solidFill>
            <a:srgbClr val="0d2633"/>
          </a:solidFill>
          <a:ln w="12700">
            <a:solidFill>
              <a:srgbClr val="28434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" name="TextBox 13"/>
          <p:cNvSpPr/>
          <p:nvPr/>
        </p:nvSpPr>
        <p:spPr>
          <a:xfrm>
            <a:off x="6400800" y="5344560"/>
            <a:ext cx="95976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900" strike="noStrike" u="none">
                <a:solidFill>
                  <a:srgbClr val="20c9a6"/>
                </a:solidFill>
                <a:effectLst/>
                <a:uFillTx/>
                <a:latin typeface="Arial"/>
              </a:rPr>
              <a:t>2 ПЛАТИ</a:t>
            </a:r>
            <a:endParaRPr b="0" lang="uk-UA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Rounded Rectangle 14"/>
          <p:cNvSpPr/>
          <p:nvPr/>
        </p:nvSpPr>
        <p:spPr>
          <a:xfrm>
            <a:off x="7479720" y="5340240"/>
            <a:ext cx="1416960" cy="292320"/>
          </a:xfrm>
          <a:prstGeom prst="roundRect">
            <a:avLst>
              <a:gd name="adj" fmla="val 12000"/>
            </a:avLst>
          </a:prstGeom>
          <a:solidFill>
            <a:srgbClr val="0d2633"/>
          </a:solidFill>
          <a:ln w="12700">
            <a:solidFill>
              <a:srgbClr val="28434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" name="TextBox 15"/>
          <p:cNvSpPr/>
          <p:nvPr/>
        </p:nvSpPr>
        <p:spPr>
          <a:xfrm>
            <a:off x="7479720" y="5344560"/>
            <a:ext cx="141696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900" strike="noStrike" u="none">
                <a:solidFill>
                  <a:srgbClr val="55bef0"/>
                </a:solidFill>
                <a:effectLst/>
                <a:uFillTx/>
                <a:latin typeface="Arial"/>
              </a:rPr>
              <a:t>2 ТРАНСПОРТИ</a:t>
            </a:r>
            <a:endParaRPr b="0" lang="uk-UA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Rounded Rectangle 16"/>
          <p:cNvSpPr/>
          <p:nvPr/>
        </p:nvSpPr>
        <p:spPr>
          <a:xfrm>
            <a:off x="9025200" y="5340240"/>
            <a:ext cx="1234080" cy="292320"/>
          </a:xfrm>
          <a:prstGeom prst="roundRect">
            <a:avLst>
              <a:gd name="adj" fmla="val 12000"/>
            </a:avLst>
          </a:prstGeom>
          <a:solidFill>
            <a:srgbClr val="0d2633"/>
          </a:solidFill>
          <a:ln w="12700">
            <a:solidFill>
              <a:srgbClr val="28434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TextBox 17"/>
          <p:cNvSpPr/>
          <p:nvPr/>
        </p:nvSpPr>
        <p:spPr>
          <a:xfrm>
            <a:off x="9025200" y="5344560"/>
            <a:ext cx="123408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900" strike="noStrike" u="none">
                <a:solidFill>
                  <a:srgbClr val="b5dc64"/>
                </a:solidFill>
                <a:effectLst/>
                <a:uFillTx/>
                <a:latin typeface="Arial"/>
              </a:rPr>
              <a:t>DEEP SLEEP</a:t>
            </a:r>
            <a:endParaRPr b="0" lang="uk-UA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18"/>
          <p:cNvSpPr/>
          <p:nvPr/>
        </p:nvSpPr>
        <p:spPr>
          <a:xfrm>
            <a:off x="722520" y="6291000"/>
            <a:ext cx="7863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trike="noStrike" u="none">
                <a:solidFill>
                  <a:srgbClr val="9bb0b8"/>
                </a:solidFill>
                <a:effectLst/>
                <a:uFillTx/>
                <a:latin typeface="Arial"/>
              </a:rPr>
              <a:t>Апаратна частина • прошивка • протоколи • енергозбереження</a:t>
            </a:r>
            <a:endParaRPr b="0" lang="uk-UA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19"/>
          <p:cNvSpPr/>
          <p:nvPr/>
        </p:nvSpPr>
        <p:spPr>
          <a:xfrm>
            <a:off x="11082600" y="6245280"/>
            <a:ext cx="475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1" lang="en-US" sz="1000" strike="noStrike" u="none">
                <a:solidFill>
                  <a:srgbClr val="9bb0b8"/>
                </a:solidFill>
                <a:effectLst/>
                <a:uFillTx/>
                <a:latin typeface="Cascadia Mono"/>
              </a:rPr>
              <a:t>01</a:t>
            </a:r>
            <a:endParaRPr b="0" lang="uk-UA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Box 1"/>
          <p:cNvSpPr/>
          <p:nvPr/>
        </p:nvSpPr>
        <p:spPr>
          <a:xfrm>
            <a:off x="594360" y="329040"/>
            <a:ext cx="5303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950" strike="noStrike" u="none">
                <a:solidFill>
                  <a:srgbClr val="087f6c"/>
                </a:solidFill>
                <a:effectLst/>
                <a:uFillTx/>
                <a:latin typeface="Arial"/>
              </a:rPr>
              <a:t>01 / ПОСТАНОВКА ЗАДАЧІ</a:t>
            </a:r>
            <a:endParaRPr b="0" lang="uk-UA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2"/>
          <p:cNvSpPr/>
          <p:nvPr/>
        </p:nvSpPr>
        <p:spPr>
          <a:xfrm>
            <a:off x="594360" y="658440"/>
            <a:ext cx="109724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0232e"/>
                </a:solidFill>
                <a:effectLst/>
                <a:uFillTx/>
                <a:latin typeface="Bahnschrift"/>
              </a:rPr>
              <a:t>Проблема → інженерна відповідь</a:t>
            </a:r>
            <a:endParaRPr b="0" lang="uk-U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3"/>
          <p:cNvSpPr/>
          <p:nvPr/>
        </p:nvSpPr>
        <p:spPr>
          <a:xfrm>
            <a:off x="612720" y="1225440"/>
            <a:ext cx="10789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250" strike="noStrike" u="none">
                <a:solidFill>
                  <a:srgbClr val="6c838d"/>
                </a:solidFill>
                <a:effectLst/>
                <a:uFillTx/>
                <a:latin typeface="Arial"/>
              </a:rPr>
              <a:t>Станція має працювати там, де немає постійного живлення та стабільної інфраструктури.</a:t>
            </a:r>
            <a:endParaRPr b="0" lang="uk-UA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4"/>
          <p:cNvSpPr/>
          <p:nvPr/>
        </p:nvSpPr>
        <p:spPr>
          <a:xfrm>
            <a:off x="603360" y="6537960"/>
            <a:ext cx="53031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850" strike="noStrike" u="none">
                <a:solidFill>
                  <a:srgbClr val="6c838d"/>
                </a:solidFill>
                <a:effectLst/>
                <a:uFillTx/>
                <a:latin typeface="Arial"/>
              </a:rPr>
              <a:t>METEOSTATION  /  ФІНАЛЬНИЙ ПРОЄКТ</a:t>
            </a:r>
            <a:endParaRPr b="0" lang="uk-UA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5"/>
          <p:cNvSpPr/>
          <p:nvPr/>
        </p:nvSpPr>
        <p:spPr>
          <a:xfrm>
            <a:off x="11109960" y="6473880"/>
            <a:ext cx="475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1" lang="en-US" sz="1000" strike="noStrike" u="none">
                <a:solidFill>
                  <a:srgbClr val="6c838d"/>
                </a:solidFill>
                <a:effectLst/>
                <a:uFillTx/>
                <a:latin typeface="Cascadia Mono"/>
              </a:rPr>
              <a:t>02</a:t>
            </a:r>
            <a:endParaRPr b="0" lang="uk-UA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9" name="Connector 6"/>
          <p:cNvCxnSpPr/>
          <p:nvPr/>
        </p:nvCxnSpPr>
        <p:spPr>
          <a:xfrm>
            <a:off x="594360" y="6391440"/>
            <a:ext cx="11000520" cy="360"/>
          </a:xfrm>
          <a:prstGeom prst="straightConnector1">
            <a:avLst/>
          </a:prstGeom>
          <a:ln w="10160">
            <a:solidFill>
              <a:srgbClr val="d8e3e2"/>
            </a:solidFill>
            <a:round/>
          </a:ln>
        </p:spPr>
      </p:cxnSp>
      <p:sp>
        <p:nvSpPr>
          <p:cNvPr id="90" name="Rounded Rectangle 7"/>
          <p:cNvSpPr/>
          <p:nvPr/>
        </p:nvSpPr>
        <p:spPr>
          <a:xfrm>
            <a:off x="612720" y="1783080"/>
            <a:ext cx="6994800" cy="914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" name="Rounded Rectangle 8"/>
          <p:cNvSpPr/>
          <p:nvPr/>
        </p:nvSpPr>
        <p:spPr>
          <a:xfrm>
            <a:off x="831960" y="1956960"/>
            <a:ext cx="475200" cy="292320"/>
          </a:xfrm>
          <a:prstGeom prst="roundRect">
            <a:avLst>
              <a:gd name="adj" fmla="val 12000"/>
            </a:avLst>
          </a:prstGeom>
          <a:solidFill>
            <a:srgbClr val="20c9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" name="TextBox 9"/>
          <p:cNvSpPr/>
          <p:nvPr/>
        </p:nvSpPr>
        <p:spPr>
          <a:xfrm>
            <a:off x="831960" y="1961280"/>
            <a:ext cx="47520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1000" strike="noStrike" u="none">
                <a:solidFill>
                  <a:srgbClr val="081b26"/>
                </a:solidFill>
                <a:effectLst/>
                <a:uFillTx/>
                <a:latin typeface="Arial"/>
              </a:rPr>
              <a:t>01</a:t>
            </a:r>
            <a:endParaRPr b="0" lang="uk-UA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10"/>
          <p:cNvSpPr/>
          <p:nvPr/>
        </p:nvSpPr>
        <p:spPr>
          <a:xfrm>
            <a:off x="1508760" y="1911240"/>
            <a:ext cx="2422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600" strike="noStrike" u="none">
                <a:solidFill>
                  <a:srgbClr val="10232e"/>
                </a:solidFill>
                <a:effectLst/>
                <a:uFillTx/>
                <a:latin typeface="Bahnschrift"/>
              </a:rPr>
              <a:t>Віддалена точка</a:t>
            </a:r>
            <a:endParaRPr b="0" lang="uk-UA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11"/>
          <p:cNvSpPr/>
          <p:nvPr/>
        </p:nvSpPr>
        <p:spPr>
          <a:xfrm>
            <a:off x="3822120" y="1911240"/>
            <a:ext cx="34376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250" strike="noStrike" u="none">
                <a:solidFill>
                  <a:srgbClr val="28424e"/>
                </a:solidFill>
                <a:effectLst/>
                <a:uFillTx/>
                <a:latin typeface="Arial"/>
              </a:rPr>
              <a:t>Живлення від батареї та сонячної панелі; короткі активні цикли.</a:t>
            </a:r>
            <a:endParaRPr b="0" lang="uk-UA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Rounded Rectangle 12"/>
          <p:cNvSpPr/>
          <p:nvPr/>
        </p:nvSpPr>
        <p:spPr>
          <a:xfrm>
            <a:off x="612720" y="2907720"/>
            <a:ext cx="6994800" cy="914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" name="Rounded Rectangle 13"/>
          <p:cNvSpPr/>
          <p:nvPr/>
        </p:nvSpPr>
        <p:spPr>
          <a:xfrm>
            <a:off x="831960" y="3081600"/>
            <a:ext cx="475200" cy="292320"/>
          </a:xfrm>
          <a:prstGeom prst="roundRect">
            <a:avLst>
              <a:gd name="adj" fmla="val 12000"/>
            </a:avLst>
          </a:prstGeom>
          <a:solidFill>
            <a:srgbClr val="f0b95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" name="TextBox 14"/>
          <p:cNvSpPr/>
          <p:nvPr/>
        </p:nvSpPr>
        <p:spPr>
          <a:xfrm>
            <a:off x="831960" y="3085920"/>
            <a:ext cx="47520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1000" strike="noStrike" u="none">
                <a:solidFill>
                  <a:srgbClr val="081b26"/>
                </a:solidFill>
                <a:effectLst/>
                <a:uFillTx/>
                <a:latin typeface="Arial"/>
              </a:rPr>
              <a:t>02</a:t>
            </a:r>
            <a:endParaRPr b="0" lang="uk-UA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15"/>
          <p:cNvSpPr/>
          <p:nvPr/>
        </p:nvSpPr>
        <p:spPr>
          <a:xfrm>
            <a:off x="1508760" y="3035880"/>
            <a:ext cx="2422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600" strike="noStrike" u="none">
                <a:solidFill>
                  <a:srgbClr val="10232e"/>
                </a:solidFill>
                <a:effectLst/>
                <a:uFillTx/>
                <a:latin typeface="Bahnschrift"/>
              </a:rPr>
              <a:t>Гроза не чекає таймера</a:t>
            </a:r>
            <a:endParaRPr b="0" lang="uk-UA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16"/>
          <p:cNvSpPr/>
          <p:nvPr/>
        </p:nvSpPr>
        <p:spPr>
          <a:xfrm>
            <a:off x="3822120" y="3035880"/>
            <a:ext cx="34376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250" strike="noStrike" u="none">
                <a:solidFill>
                  <a:srgbClr val="28424e"/>
                </a:solidFill>
                <a:effectLst/>
                <a:uFillTx/>
                <a:latin typeface="Arial"/>
              </a:rPr>
              <a:t>Окреме пробудження через AS3935 і WAKE_IRQ.</a:t>
            </a:r>
            <a:endParaRPr b="0" lang="uk-UA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Rounded Rectangle 17"/>
          <p:cNvSpPr/>
          <p:nvPr/>
        </p:nvSpPr>
        <p:spPr>
          <a:xfrm>
            <a:off x="612720" y="4032360"/>
            <a:ext cx="6994800" cy="914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" name="Rounded Rectangle 18"/>
          <p:cNvSpPr/>
          <p:nvPr/>
        </p:nvSpPr>
        <p:spPr>
          <a:xfrm>
            <a:off x="831960" y="4206240"/>
            <a:ext cx="475200" cy="292320"/>
          </a:xfrm>
          <a:prstGeom prst="roundRect">
            <a:avLst>
              <a:gd name="adj" fmla="val 12000"/>
            </a:avLst>
          </a:prstGeom>
          <a:solidFill>
            <a:srgbClr val="55be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TextBox 19"/>
          <p:cNvSpPr/>
          <p:nvPr/>
        </p:nvSpPr>
        <p:spPr>
          <a:xfrm>
            <a:off x="831960" y="4210920"/>
            <a:ext cx="47520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1000" strike="noStrike" u="none">
                <a:solidFill>
                  <a:srgbClr val="081b26"/>
                </a:solidFill>
                <a:effectLst/>
                <a:uFillTx/>
                <a:latin typeface="Arial"/>
              </a:rPr>
              <a:t>03</a:t>
            </a:r>
            <a:endParaRPr b="0" lang="uk-UA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20"/>
          <p:cNvSpPr/>
          <p:nvPr/>
        </p:nvSpPr>
        <p:spPr>
          <a:xfrm>
            <a:off x="1508760" y="4160520"/>
            <a:ext cx="2422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600" strike="noStrike" u="none">
                <a:solidFill>
                  <a:srgbClr val="10232e"/>
                </a:solidFill>
                <a:effectLst/>
                <a:uFillTx/>
                <a:latin typeface="Bahnschrift"/>
              </a:rPr>
              <a:t>Різні умови зв’язку</a:t>
            </a:r>
            <a:endParaRPr b="0" lang="uk-UA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21"/>
          <p:cNvSpPr/>
          <p:nvPr/>
        </p:nvSpPr>
        <p:spPr>
          <a:xfrm>
            <a:off x="3822120" y="4160520"/>
            <a:ext cx="34376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250" strike="noStrike" u="none">
                <a:solidFill>
                  <a:srgbClr val="28424e"/>
                </a:solidFill>
                <a:effectLst/>
                <a:uFillTx/>
                <a:latin typeface="Arial"/>
              </a:rPr>
              <a:t>Апаратний вибір LoRa або Wi-Fi + MQTT через J4.</a:t>
            </a:r>
            <a:endParaRPr b="0" lang="uk-UA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Rounded Rectangle 22"/>
          <p:cNvSpPr/>
          <p:nvPr/>
        </p:nvSpPr>
        <p:spPr>
          <a:xfrm>
            <a:off x="7891200" y="1783080"/>
            <a:ext cx="3684600" cy="3163320"/>
          </a:xfrm>
          <a:prstGeom prst="roundRect">
            <a:avLst>
              <a:gd name="adj" fmla="val 12000"/>
            </a:avLst>
          </a:prstGeom>
          <a:solidFill>
            <a:srgbClr val="081b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" name="TextBox 23"/>
          <p:cNvSpPr/>
          <p:nvPr/>
        </p:nvSpPr>
        <p:spPr>
          <a:xfrm>
            <a:off x="8202240" y="2057400"/>
            <a:ext cx="30171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000" strike="noStrike" u="none">
                <a:solidFill>
                  <a:srgbClr val="20c9a6"/>
                </a:solidFill>
                <a:effectLst/>
                <a:uFillTx/>
                <a:latin typeface="Arial"/>
              </a:rPr>
              <a:t>МЕТА ПРОЄКТУ</a:t>
            </a:r>
            <a:endParaRPr b="0" lang="uk-UA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24"/>
          <p:cNvSpPr/>
          <p:nvPr/>
        </p:nvSpPr>
        <p:spPr>
          <a:xfrm>
            <a:off x="8202240" y="2541960"/>
            <a:ext cx="30171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b="1" lang="en-US" sz="2200" strike="noStrike" u="none">
                <a:solidFill>
                  <a:srgbClr val="f7fafa"/>
                </a:solidFill>
                <a:effectLst/>
                <a:uFillTx/>
                <a:latin typeface="Bahnschrift"/>
              </a:rPr>
              <a:t>Створити автономний</a:t>
            </a:r>
            <a:endParaRPr b="0" lang="uk-UA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</a:pPr>
            <a:r>
              <a:rPr b="1" lang="en-US" sz="2200" strike="noStrike" u="none">
                <a:solidFill>
                  <a:srgbClr val="f7fafa"/>
                </a:solidFill>
                <a:effectLst/>
                <a:uFillTx/>
                <a:latin typeface="Bahnschrift"/>
              </a:rPr>
              <a:t>вузол моніторингу</a:t>
            </a:r>
            <a:endParaRPr b="0" lang="uk-UA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25"/>
          <p:cNvSpPr/>
          <p:nvPr/>
        </p:nvSpPr>
        <p:spPr>
          <a:xfrm>
            <a:off x="8202240" y="3547800"/>
            <a:ext cx="2889000" cy="89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b="0" lang="en-US" sz="1350" strike="noStrike" u="none">
                <a:solidFill>
                  <a:srgbClr val="9bb0b8"/>
                </a:solidFill>
                <a:effectLst/>
                <a:uFillTx/>
                <a:latin typeface="Arial"/>
              </a:rPr>
              <a:t>який поєднує вимірювання,</a:t>
            </a:r>
            <a:endParaRPr b="0" lang="uk-UA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350" strike="noStrike" u="none">
                <a:solidFill>
                  <a:srgbClr val="9bb0b8"/>
                </a:solidFill>
                <a:effectLst/>
                <a:uFillTx/>
                <a:latin typeface="Arial"/>
              </a:rPr>
              <a:t>подієву обробку, передачу</a:t>
            </a:r>
            <a:endParaRPr b="0" lang="uk-UA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</a:pPr>
            <a:r>
              <a:rPr b="0" lang="en-US" sz="1350" strike="noStrike" u="none">
                <a:solidFill>
                  <a:srgbClr val="9bb0b8"/>
                </a:solidFill>
                <a:effectLst/>
                <a:uFillTx/>
                <a:latin typeface="Arial"/>
              </a:rPr>
              <a:t>даних і контроль живлення.</a:t>
            </a:r>
            <a:endParaRPr b="0" lang="uk-UA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Rounded Rectangle 26"/>
          <p:cNvSpPr/>
          <p:nvPr/>
        </p:nvSpPr>
        <p:spPr>
          <a:xfrm>
            <a:off x="612720" y="5266800"/>
            <a:ext cx="2541600" cy="840960"/>
          </a:xfrm>
          <a:prstGeom prst="roundRect">
            <a:avLst>
              <a:gd name="adj" fmla="val 12000"/>
            </a:avLst>
          </a:prstGeom>
          <a:solidFill>
            <a:srgbClr val="ddf6ef"/>
          </a:solidFill>
          <a:ln w="12700">
            <a:solidFill>
              <a:srgbClr val="d8e3e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TextBox 27"/>
          <p:cNvSpPr/>
          <p:nvPr/>
        </p:nvSpPr>
        <p:spPr>
          <a:xfrm>
            <a:off x="777240" y="5394960"/>
            <a:ext cx="749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000" strike="noStrike" u="none">
                <a:solidFill>
                  <a:srgbClr val="087f6c"/>
                </a:solidFill>
                <a:effectLst/>
                <a:uFillTx/>
                <a:latin typeface="Bahnschrift"/>
              </a:rPr>
              <a:t>300 с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28"/>
          <p:cNvSpPr/>
          <p:nvPr/>
        </p:nvSpPr>
        <p:spPr>
          <a:xfrm>
            <a:off x="1508760" y="5367600"/>
            <a:ext cx="1481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50" strike="noStrike" u="none">
                <a:solidFill>
                  <a:srgbClr val="28424e"/>
                </a:solidFill>
                <a:effectLst/>
                <a:uFillTx/>
                <a:latin typeface="Arial"/>
              </a:rPr>
              <a:t>інтервал за замовчуванням</a:t>
            </a:r>
            <a:endParaRPr b="0" lang="uk-UA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Rounded Rectangle 29"/>
          <p:cNvSpPr/>
          <p:nvPr/>
        </p:nvSpPr>
        <p:spPr>
          <a:xfrm>
            <a:off x="3383280" y="5266800"/>
            <a:ext cx="2541600" cy="840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" name="TextBox 30"/>
          <p:cNvSpPr/>
          <p:nvPr/>
        </p:nvSpPr>
        <p:spPr>
          <a:xfrm>
            <a:off x="3547800" y="5394960"/>
            <a:ext cx="749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000" strike="noStrike" u="none">
                <a:solidFill>
                  <a:srgbClr val="087f6c"/>
                </a:solidFill>
                <a:effectLst/>
                <a:uFillTx/>
                <a:latin typeface="Bahnschrift"/>
              </a:rPr>
              <a:t>6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31"/>
          <p:cNvSpPr/>
          <p:nvPr/>
        </p:nvSpPr>
        <p:spPr>
          <a:xfrm>
            <a:off x="4279320" y="5367600"/>
            <a:ext cx="1481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50" strike="noStrike" u="none">
                <a:solidFill>
                  <a:srgbClr val="28424e"/>
                </a:solidFill>
                <a:effectLst/>
                <a:uFillTx/>
                <a:latin typeface="Arial"/>
              </a:rPr>
              <a:t>пристроїв на I²C</a:t>
            </a:r>
            <a:endParaRPr b="0" lang="uk-UA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Rounded Rectangle 32"/>
          <p:cNvSpPr/>
          <p:nvPr/>
        </p:nvSpPr>
        <p:spPr>
          <a:xfrm>
            <a:off x="6153840" y="5266800"/>
            <a:ext cx="2541600" cy="840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" name="TextBox 33"/>
          <p:cNvSpPr/>
          <p:nvPr/>
        </p:nvSpPr>
        <p:spPr>
          <a:xfrm>
            <a:off x="6318360" y="5394960"/>
            <a:ext cx="749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000" strike="noStrike" u="none">
                <a:solidFill>
                  <a:srgbClr val="087f6c"/>
                </a:solidFill>
                <a:effectLst/>
                <a:uFillTx/>
                <a:latin typeface="Bahnschrift"/>
              </a:rPr>
              <a:t>2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34"/>
          <p:cNvSpPr/>
          <p:nvPr/>
        </p:nvSpPr>
        <p:spPr>
          <a:xfrm>
            <a:off x="7049880" y="5367600"/>
            <a:ext cx="1481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50" strike="noStrike" u="none">
                <a:solidFill>
                  <a:srgbClr val="28424e"/>
                </a:solidFill>
                <a:effectLst/>
                <a:uFillTx/>
                <a:latin typeface="Arial"/>
              </a:rPr>
              <a:t>друковані плати</a:t>
            </a:r>
            <a:endParaRPr b="0" lang="uk-UA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Rounded Rectangle 35"/>
          <p:cNvSpPr/>
          <p:nvPr/>
        </p:nvSpPr>
        <p:spPr>
          <a:xfrm>
            <a:off x="8924400" y="5266800"/>
            <a:ext cx="2541600" cy="840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" name="TextBox 36"/>
          <p:cNvSpPr/>
          <p:nvPr/>
        </p:nvSpPr>
        <p:spPr>
          <a:xfrm>
            <a:off x="9089280" y="5394960"/>
            <a:ext cx="749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000" strike="noStrike" u="none">
                <a:solidFill>
                  <a:srgbClr val="087f6c"/>
                </a:solidFill>
                <a:effectLst/>
                <a:uFillTx/>
                <a:latin typeface="Bahnschrift"/>
              </a:rPr>
              <a:t>2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37"/>
          <p:cNvSpPr/>
          <p:nvPr/>
        </p:nvSpPr>
        <p:spPr>
          <a:xfrm>
            <a:off x="9820800" y="5367600"/>
            <a:ext cx="1481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50" strike="noStrike" u="none">
                <a:solidFill>
                  <a:srgbClr val="28424e"/>
                </a:solidFill>
                <a:effectLst/>
                <a:uFillTx/>
                <a:latin typeface="Arial"/>
              </a:rPr>
              <a:t>транспорти</a:t>
            </a:r>
            <a:endParaRPr b="0" lang="uk-UA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extBox 1"/>
          <p:cNvSpPr/>
          <p:nvPr/>
        </p:nvSpPr>
        <p:spPr>
          <a:xfrm>
            <a:off x="594360" y="329040"/>
            <a:ext cx="5303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950" strike="noStrike" u="none">
                <a:solidFill>
                  <a:srgbClr val="20c9a6"/>
                </a:solidFill>
                <a:effectLst/>
                <a:uFillTx/>
                <a:latin typeface="Arial"/>
              </a:rPr>
              <a:t>02 / СИСТЕМА</a:t>
            </a:r>
            <a:endParaRPr b="0" lang="uk-UA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Box 2"/>
          <p:cNvSpPr/>
          <p:nvPr/>
        </p:nvSpPr>
        <p:spPr>
          <a:xfrm>
            <a:off x="594360" y="658440"/>
            <a:ext cx="109724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f7fafa"/>
                </a:solidFill>
                <a:effectLst/>
                <a:uFillTx/>
                <a:latin typeface="Bahnschrift"/>
              </a:rPr>
              <a:t>Система в одному погляді</a:t>
            </a:r>
            <a:endParaRPr b="0" lang="uk-UA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3"/>
          <p:cNvSpPr/>
          <p:nvPr/>
        </p:nvSpPr>
        <p:spPr>
          <a:xfrm>
            <a:off x="612720" y="1225440"/>
            <a:ext cx="10789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250" strike="noStrike" u="none">
                <a:solidFill>
                  <a:srgbClr val="9bb0b8"/>
                </a:solidFill>
                <a:effectLst/>
                <a:uFillTx/>
                <a:latin typeface="Arial"/>
              </a:rPr>
              <a:t>Один контролер об’єднує датчики, живлення, час і два канали передачі.</a:t>
            </a:r>
            <a:endParaRPr b="0" lang="uk-UA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4"/>
          <p:cNvSpPr/>
          <p:nvPr/>
        </p:nvSpPr>
        <p:spPr>
          <a:xfrm>
            <a:off x="603360" y="6537960"/>
            <a:ext cx="53031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850" strike="noStrike" u="none">
                <a:solidFill>
                  <a:srgbClr val="9bb0b8"/>
                </a:solidFill>
                <a:effectLst/>
                <a:uFillTx/>
                <a:latin typeface="Arial"/>
              </a:rPr>
              <a:t>METEOSTATION  /  ФІНАЛЬНИЙ ПРОЄКТ</a:t>
            </a:r>
            <a:endParaRPr b="0" lang="uk-UA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5"/>
          <p:cNvSpPr/>
          <p:nvPr/>
        </p:nvSpPr>
        <p:spPr>
          <a:xfrm>
            <a:off x="11109960" y="6473880"/>
            <a:ext cx="475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1" lang="en-US" sz="1000" strike="noStrike" u="none">
                <a:solidFill>
                  <a:srgbClr val="9bb0b8"/>
                </a:solidFill>
                <a:effectLst/>
                <a:uFillTx/>
                <a:latin typeface="Cascadia Mono"/>
              </a:rPr>
              <a:t>03</a:t>
            </a:r>
            <a:endParaRPr b="0" lang="uk-UA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26" name="Connector 6"/>
          <p:cNvCxnSpPr/>
          <p:nvPr/>
        </p:nvCxnSpPr>
        <p:spPr>
          <a:xfrm>
            <a:off x="594360" y="6391440"/>
            <a:ext cx="11000520" cy="360"/>
          </a:xfrm>
          <a:prstGeom prst="straightConnector1">
            <a:avLst/>
          </a:prstGeom>
          <a:ln w="10160">
            <a:solidFill>
              <a:srgbClr val="28434d"/>
            </a:solidFill>
            <a:round/>
          </a:ln>
        </p:spPr>
      </p:cxnSp>
      <p:sp>
        <p:nvSpPr>
          <p:cNvPr id="127" name="Rounded Rectangle 7"/>
          <p:cNvSpPr/>
          <p:nvPr/>
        </p:nvSpPr>
        <p:spPr>
          <a:xfrm>
            <a:off x="658440" y="1710000"/>
            <a:ext cx="2011320" cy="566640"/>
          </a:xfrm>
          <a:prstGeom prst="roundRect">
            <a:avLst>
              <a:gd name="adj" fmla="val 12000"/>
            </a:avLst>
          </a:prstGeom>
          <a:solidFill>
            <a:srgbClr val="0d2633"/>
          </a:solidFill>
          <a:ln w="12700">
            <a:solidFill>
              <a:srgbClr val="28434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" name="TextBox 8"/>
          <p:cNvSpPr/>
          <p:nvPr/>
        </p:nvSpPr>
        <p:spPr>
          <a:xfrm>
            <a:off x="758880" y="1874520"/>
            <a:ext cx="1810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1050" strike="noStrike" u="none">
                <a:solidFill>
                  <a:srgbClr val="b5dc64"/>
                </a:solidFill>
                <a:effectLst/>
                <a:uFillTx/>
                <a:latin typeface="Cascadia Mono"/>
              </a:rPr>
              <a:t>USB  /  SOLAR  /  LiFePO₄</a:t>
            </a:r>
            <a:endParaRPr b="0" lang="uk-UA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29" name="Connector 9"/>
          <p:cNvCxnSpPr/>
          <p:nvPr/>
        </p:nvCxnSpPr>
        <p:spPr>
          <a:xfrm>
            <a:off x="2669760" y="1993320"/>
            <a:ext cx="1152720" cy="360"/>
          </a:xfrm>
          <a:prstGeom prst="straightConnector1">
            <a:avLst/>
          </a:prstGeom>
          <a:ln w="20320">
            <a:solidFill>
              <a:srgbClr val="b5dc64"/>
            </a:solidFill>
            <a:round/>
          </a:ln>
        </p:spPr>
      </p:cxnSp>
      <p:sp>
        <p:nvSpPr>
          <p:cNvPr id="130" name="Rounded Rectangle 10"/>
          <p:cNvSpPr/>
          <p:nvPr/>
        </p:nvSpPr>
        <p:spPr>
          <a:xfrm>
            <a:off x="658440" y="2587680"/>
            <a:ext cx="2011320" cy="2221560"/>
          </a:xfrm>
          <a:prstGeom prst="roundRect">
            <a:avLst>
              <a:gd name="adj" fmla="val 12000"/>
            </a:avLst>
          </a:prstGeom>
          <a:solidFill>
            <a:srgbClr val="0d2633"/>
          </a:solidFill>
          <a:ln w="12700">
            <a:solidFill>
              <a:srgbClr val="28434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" name="TextBox 11"/>
          <p:cNvSpPr/>
          <p:nvPr/>
        </p:nvSpPr>
        <p:spPr>
          <a:xfrm>
            <a:off x="868680" y="2807280"/>
            <a:ext cx="1599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000" strike="noStrike" u="none">
                <a:solidFill>
                  <a:srgbClr val="20c9a6"/>
                </a:solidFill>
                <a:effectLst/>
                <a:uFillTx/>
                <a:latin typeface="Arial"/>
              </a:rPr>
              <a:t>ДАТЧИКИ</a:t>
            </a:r>
            <a:endParaRPr b="0" lang="uk-UA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12"/>
          <p:cNvSpPr/>
          <p:nvPr/>
        </p:nvSpPr>
        <p:spPr>
          <a:xfrm>
            <a:off x="868680" y="3191400"/>
            <a:ext cx="1599840" cy="13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b="0" lang="en-US" sz="1400" strike="noStrike" u="none">
                <a:solidFill>
                  <a:srgbClr val="f7fafa"/>
                </a:solidFill>
                <a:effectLst/>
                <a:uFillTx/>
                <a:latin typeface="Cascadia Mono"/>
              </a:rPr>
              <a:t>BME280</a:t>
            </a:r>
            <a:endParaRPr b="0" lang="uk-UA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400" strike="noStrike" u="none">
                <a:solidFill>
                  <a:srgbClr val="f7fafa"/>
                </a:solidFill>
                <a:effectLst/>
                <a:uFillTx/>
                <a:latin typeface="Cascadia Mono"/>
              </a:rPr>
              <a:t>AS3935</a:t>
            </a:r>
            <a:endParaRPr b="0" lang="uk-UA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400" strike="noStrike" u="none">
                <a:solidFill>
                  <a:srgbClr val="f7fafa"/>
                </a:solidFill>
                <a:effectLst/>
                <a:uFillTx/>
                <a:latin typeface="Cascadia Mono"/>
              </a:rPr>
              <a:t>INA226 ×2</a:t>
            </a:r>
            <a:endParaRPr b="0" lang="uk-UA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400" strike="noStrike" u="none">
                <a:solidFill>
                  <a:srgbClr val="f7fafa"/>
                </a:solidFill>
                <a:effectLst/>
                <a:uFillTx/>
                <a:latin typeface="Cascadia Mono"/>
              </a:rPr>
              <a:t>DS3231</a:t>
            </a:r>
            <a:endParaRPr b="0" lang="uk-UA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</a:pPr>
            <a:r>
              <a:rPr b="0" lang="en-US" sz="1400" strike="noStrike" u="none">
                <a:solidFill>
                  <a:srgbClr val="f7fafa"/>
                </a:solidFill>
                <a:effectLst/>
                <a:uFillTx/>
                <a:latin typeface="Cascadia Mono"/>
              </a:rPr>
              <a:t>PCA9536</a:t>
            </a:r>
            <a:endParaRPr b="0" lang="uk-UA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33" name="Connector 13"/>
          <p:cNvCxnSpPr/>
          <p:nvPr/>
        </p:nvCxnSpPr>
        <p:spPr>
          <a:xfrm>
            <a:off x="2669760" y="3693960"/>
            <a:ext cx="1152720" cy="360"/>
          </a:xfrm>
          <a:prstGeom prst="straightConnector1">
            <a:avLst/>
          </a:prstGeom>
          <a:ln>
            <a:solidFill>
              <a:srgbClr val="20c9a6"/>
            </a:solidFill>
            <a:round/>
          </a:ln>
        </p:spPr>
      </p:cxnSp>
      <p:sp>
        <p:nvSpPr>
          <p:cNvPr id="134" name="TextBox 14"/>
          <p:cNvSpPr/>
          <p:nvPr/>
        </p:nvSpPr>
        <p:spPr>
          <a:xfrm>
            <a:off x="2761560" y="3383280"/>
            <a:ext cx="959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0" lang="en-US" sz="900" strike="noStrike" u="none">
                <a:solidFill>
                  <a:srgbClr val="9bb0b8"/>
                </a:solidFill>
                <a:effectLst/>
                <a:uFillTx/>
                <a:latin typeface="Cascadia Mono"/>
              </a:rPr>
              <a:t>I²C 100 кГц</a:t>
            </a:r>
            <a:endParaRPr b="0" lang="uk-UA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Rounded Rectangle 15"/>
          <p:cNvSpPr/>
          <p:nvPr/>
        </p:nvSpPr>
        <p:spPr>
          <a:xfrm>
            <a:off x="3840480" y="2103120"/>
            <a:ext cx="2880000" cy="2998800"/>
          </a:xfrm>
          <a:prstGeom prst="roundRect">
            <a:avLst>
              <a:gd name="adj" fmla="val 12000"/>
            </a:avLst>
          </a:prstGeom>
          <a:solidFill>
            <a:srgbClr val="20c9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" name="TextBox 16"/>
          <p:cNvSpPr/>
          <p:nvPr/>
        </p:nvSpPr>
        <p:spPr>
          <a:xfrm>
            <a:off x="4114800" y="2450520"/>
            <a:ext cx="23313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2500" strike="noStrike" u="none">
                <a:solidFill>
                  <a:srgbClr val="081b26"/>
                </a:solidFill>
                <a:effectLst/>
                <a:uFillTx/>
                <a:latin typeface="Bahnschrift"/>
              </a:rPr>
              <a:t>ESP32-C3</a:t>
            </a:r>
            <a:endParaRPr b="0" lang="uk-UA" sz="2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Box 17"/>
          <p:cNvSpPr/>
          <p:nvPr/>
        </p:nvSpPr>
        <p:spPr>
          <a:xfrm>
            <a:off x="4142160" y="3072240"/>
            <a:ext cx="2285640" cy="10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b="0" lang="en-US" sz="1350" strike="noStrike" u="none">
                <a:solidFill>
                  <a:srgbClr val="081b26"/>
                </a:solidFill>
                <a:effectLst/>
                <a:uFillTx/>
                <a:latin typeface="Cascadia Mono"/>
              </a:rPr>
              <a:t>app_flow</a:t>
            </a:r>
            <a:endParaRPr b="0" lang="uk-UA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350" strike="noStrike" u="none">
                <a:solidFill>
                  <a:srgbClr val="081b26"/>
                </a:solidFill>
                <a:effectLst/>
                <a:uFillTx/>
                <a:latin typeface="Cascadia Mono"/>
              </a:rPr>
              <a:t>sensor_manager</a:t>
            </a:r>
            <a:endParaRPr b="0" lang="uk-UA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350" strike="noStrike" u="none">
                <a:solidFill>
                  <a:srgbClr val="081b26"/>
                </a:solidFill>
                <a:effectLst/>
                <a:uFillTx/>
                <a:latin typeface="Cascadia Mono"/>
              </a:rPr>
              <a:t>lightning_service</a:t>
            </a:r>
            <a:endParaRPr b="0" lang="uk-UA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350" strike="noStrike" u="none">
                <a:solidFill>
                  <a:srgbClr val="081b26"/>
                </a:solidFill>
                <a:effectLst/>
                <a:uFillTx/>
                <a:latin typeface="Cascadia Mono"/>
              </a:rPr>
              <a:t>telemetry_codec</a:t>
            </a:r>
            <a:endParaRPr b="0" lang="uk-UA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350" strike="noStrike" u="none">
                <a:solidFill>
                  <a:srgbClr val="081b26"/>
                </a:solidFill>
                <a:effectLst/>
                <a:uFillTx/>
                <a:latin typeface="Cascadia Mono"/>
              </a:rPr>
              <a:t>power_manager</a:t>
            </a:r>
            <a:endParaRPr b="0" lang="uk-UA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Rounded Rectangle 18"/>
          <p:cNvSpPr/>
          <p:nvPr/>
        </p:nvSpPr>
        <p:spPr>
          <a:xfrm>
            <a:off x="4224600" y="4590360"/>
            <a:ext cx="2111760" cy="292320"/>
          </a:xfrm>
          <a:prstGeom prst="roundRect">
            <a:avLst>
              <a:gd name="adj" fmla="val 12000"/>
            </a:avLst>
          </a:prstGeom>
          <a:solidFill>
            <a:srgbClr val="081b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" name="TextBox 19"/>
          <p:cNvSpPr/>
          <p:nvPr/>
        </p:nvSpPr>
        <p:spPr>
          <a:xfrm>
            <a:off x="4224600" y="4594680"/>
            <a:ext cx="211176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900" strike="noStrike" u="none">
                <a:solidFill>
                  <a:srgbClr val="f7fafa"/>
                </a:solidFill>
                <a:effectLst/>
                <a:uFillTx/>
                <a:latin typeface="Arial"/>
              </a:rPr>
              <a:t>WAKE → WORK → SLEEP</a:t>
            </a:r>
            <a:endParaRPr b="0" lang="uk-UA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40" name="Connector 20"/>
          <p:cNvCxnSpPr/>
          <p:nvPr/>
        </p:nvCxnSpPr>
        <p:spPr>
          <a:xfrm>
            <a:off x="6720840" y="3693960"/>
            <a:ext cx="914760" cy="360"/>
          </a:xfrm>
          <a:prstGeom prst="straightConnector1">
            <a:avLst/>
          </a:prstGeom>
          <a:ln>
            <a:solidFill>
              <a:srgbClr val="20c9a6"/>
            </a:solidFill>
            <a:round/>
          </a:ln>
        </p:spPr>
      </p:cxnSp>
      <p:sp>
        <p:nvSpPr>
          <p:cNvPr id="141" name="Rounded Rectangle 21"/>
          <p:cNvSpPr/>
          <p:nvPr/>
        </p:nvSpPr>
        <p:spPr>
          <a:xfrm>
            <a:off x="7662600" y="2112120"/>
            <a:ext cx="1572480" cy="1234080"/>
          </a:xfrm>
          <a:prstGeom prst="roundRect">
            <a:avLst>
              <a:gd name="adj" fmla="val 12000"/>
            </a:avLst>
          </a:prstGeom>
          <a:solidFill>
            <a:srgbClr val="0d2633"/>
          </a:solidFill>
          <a:ln w="12700">
            <a:solidFill>
              <a:srgbClr val="55be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" name="TextBox 22"/>
          <p:cNvSpPr/>
          <p:nvPr/>
        </p:nvSpPr>
        <p:spPr>
          <a:xfrm>
            <a:off x="7845480" y="2386440"/>
            <a:ext cx="12067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1900" strike="noStrike" u="none">
                <a:solidFill>
                  <a:srgbClr val="f7fafa"/>
                </a:solidFill>
                <a:effectLst/>
                <a:uFillTx/>
                <a:latin typeface="Bahnschrift"/>
              </a:rPr>
              <a:t>Wi-Fi</a:t>
            </a:r>
            <a:endParaRPr b="0" lang="uk-UA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Box 23"/>
          <p:cNvSpPr/>
          <p:nvPr/>
        </p:nvSpPr>
        <p:spPr>
          <a:xfrm>
            <a:off x="7799760" y="2853000"/>
            <a:ext cx="1298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1000" strike="noStrike" u="none">
                <a:solidFill>
                  <a:srgbClr val="55bef0"/>
                </a:solidFill>
                <a:effectLst/>
                <a:uFillTx/>
                <a:latin typeface="Cascadia Mono"/>
              </a:rPr>
              <a:t>MQTT / JSON</a:t>
            </a:r>
            <a:endParaRPr b="0" lang="uk-UA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Rounded Rectangle 24"/>
          <p:cNvSpPr/>
          <p:nvPr/>
        </p:nvSpPr>
        <p:spPr>
          <a:xfrm>
            <a:off x="7662600" y="3822120"/>
            <a:ext cx="1572480" cy="1234080"/>
          </a:xfrm>
          <a:prstGeom prst="roundRect">
            <a:avLst>
              <a:gd name="adj" fmla="val 12000"/>
            </a:avLst>
          </a:prstGeom>
          <a:solidFill>
            <a:srgbClr val="0d2633"/>
          </a:solidFill>
          <a:ln w="12700">
            <a:solidFill>
              <a:srgbClr val="20c9a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5" name="TextBox 25"/>
          <p:cNvSpPr/>
          <p:nvPr/>
        </p:nvSpPr>
        <p:spPr>
          <a:xfrm>
            <a:off x="7845480" y="4087440"/>
            <a:ext cx="12067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1900" strike="noStrike" u="none">
                <a:solidFill>
                  <a:srgbClr val="f7fafa"/>
                </a:solidFill>
                <a:effectLst/>
                <a:uFillTx/>
                <a:latin typeface="Bahnschrift"/>
              </a:rPr>
              <a:t>LoRa</a:t>
            </a:r>
            <a:endParaRPr b="0" lang="uk-UA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26"/>
          <p:cNvSpPr/>
          <p:nvPr/>
        </p:nvSpPr>
        <p:spPr>
          <a:xfrm>
            <a:off x="7799760" y="4563000"/>
            <a:ext cx="1298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1000" strike="noStrike" u="none">
                <a:solidFill>
                  <a:srgbClr val="20c9a6"/>
                </a:solidFill>
                <a:effectLst/>
                <a:uFillTx/>
                <a:latin typeface="Cascadia Mono"/>
              </a:rPr>
              <a:t>binary / TX</a:t>
            </a:r>
            <a:endParaRPr b="0" lang="uk-UA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Box 27"/>
          <p:cNvSpPr/>
          <p:nvPr/>
        </p:nvSpPr>
        <p:spPr>
          <a:xfrm>
            <a:off x="7022520" y="3374280"/>
            <a:ext cx="3106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1000" strike="noStrike" u="none">
                <a:solidFill>
                  <a:srgbClr val="9bb0b8"/>
                </a:solidFill>
                <a:effectLst/>
                <a:uFillTx/>
                <a:latin typeface="Cascadia Mono"/>
              </a:rPr>
              <a:t>J4</a:t>
            </a:r>
            <a:endParaRPr b="0" lang="uk-UA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48" name="Connector 28"/>
          <p:cNvCxnSpPr/>
          <p:nvPr/>
        </p:nvCxnSpPr>
        <p:spPr>
          <a:xfrm>
            <a:off x="9235440" y="2724840"/>
            <a:ext cx="667800" cy="360"/>
          </a:xfrm>
          <a:prstGeom prst="straightConnector1">
            <a:avLst/>
          </a:prstGeom>
          <a:ln w="20320">
            <a:solidFill>
              <a:srgbClr val="55bef0"/>
            </a:solidFill>
            <a:round/>
          </a:ln>
        </p:spPr>
      </p:cxnSp>
      <p:cxnSp>
        <p:nvCxnSpPr>
          <p:cNvPr id="149" name="Connector 29"/>
          <p:cNvCxnSpPr/>
          <p:nvPr/>
        </p:nvCxnSpPr>
        <p:spPr>
          <a:xfrm>
            <a:off x="9235440" y="4434840"/>
            <a:ext cx="667800" cy="360"/>
          </a:xfrm>
          <a:prstGeom prst="straightConnector1">
            <a:avLst/>
          </a:prstGeom>
          <a:ln w="20320">
            <a:solidFill>
              <a:srgbClr val="20c9a6"/>
            </a:solidFill>
            <a:round/>
          </a:ln>
        </p:spPr>
      </p:cxnSp>
      <p:sp>
        <p:nvSpPr>
          <p:cNvPr id="150" name="Rounded Rectangle 30"/>
          <p:cNvSpPr/>
          <p:nvPr/>
        </p:nvSpPr>
        <p:spPr>
          <a:xfrm>
            <a:off x="9930240" y="2112120"/>
            <a:ext cx="1599840" cy="1234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1" name="TextBox 31"/>
          <p:cNvSpPr/>
          <p:nvPr/>
        </p:nvSpPr>
        <p:spPr>
          <a:xfrm>
            <a:off x="10104120" y="2459880"/>
            <a:ext cx="1252440" cy="48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anchorCtr="1">
            <a:spAutoFit/>
          </a:bodyPr>
          <a:p>
            <a:r>
              <a:rPr b="1" lang="en-US" sz="1600" strike="noStrike" u="none">
                <a:solidFill>
                  <a:srgbClr val="10232e"/>
                </a:solidFill>
                <a:effectLst/>
                <a:uFillTx/>
                <a:latin typeface="Bahnschrift"/>
              </a:rPr>
              <a:t>MQTT</a:t>
            </a:r>
            <a:endParaRPr b="0" lang="uk-UA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/>
            <a:r>
              <a:rPr b="1" lang="en-US" sz="1600" strike="noStrike" u="none">
                <a:solidFill>
                  <a:srgbClr val="10232e"/>
                </a:solidFill>
                <a:effectLst/>
                <a:uFillTx/>
                <a:latin typeface="Bahnschrift"/>
              </a:rPr>
              <a:t>broker</a:t>
            </a:r>
            <a:endParaRPr b="0" lang="uk-UA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Rounded Rectangle 32"/>
          <p:cNvSpPr/>
          <p:nvPr/>
        </p:nvSpPr>
        <p:spPr>
          <a:xfrm>
            <a:off x="9930240" y="3822120"/>
            <a:ext cx="1599840" cy="1234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3" name="TextBox 33"/>
          <p:cNvSpPr/>
          <p:nvPr/>
        </p:nvSpPr>
        <p:spPr>
          <a:xfrm>
            <a:off x="10104120" y="4169520"/>
            <a:ext cx="1252440" cy="48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anchorCtr="1">
            <a:spAutoFit/>
          </a:bodyPr>
          <a:p>
            <a:r>
              <a:rPr b="1" lang="en-US" sz="1600" strike="noStrike" u="none">
                <a:solidFill>
                  <a:srgbClr val="10232e"/>
                </a:solidFill>
                <a:effectLst/>
                <a:uFillTx/>
                <a:latin typeface="Bahnschrift"/>
              </a:rPr>
              <a:t>LoRa</a:t>
            </a:r>
            <a:endParaRPr b="0" lang="uk-UA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/>
            <a:r>
              <a:rPr b="1" lang="en-US" sz="1600" strike="noStrike" u="none">
                <a:solidFill>
                  <a:srgbClr val="10232e"/>
                </a:solidFill>
                <a:effectLst/>
                <a:uFillTx/>
                <a:latin typeface="Bahnschrift"/>
              </a:rPr>
              <a:t>gateway</a:t>
            </a:r>
            <a:endParaRPr b="0" lang="uk-UA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Box 34"/>
          <p:cNvSpPr/>
          <p:nvPr/>
        </p:nvSpPr>
        <p:spPr>
          <a:xfrm>
            <a:off x="658440" y="5504760"/>
            <a:ext cx="3654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trike="noStrike" u="none">
                <a:solidFill>
                  <a:srgbClr val="20c9a6"/>
                </a:solidFill>
                <a:effectLst/>
                <a:uFillTx/>
                <a:latin typeface="Cascadia Mono"/>
              </a:rPr>
              <a:t>01</a:t>
            </a:r>
            <a:endParaRPr b="0" lang="uk-UA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35"/>
          <p:cNvSpPr/>
          <p:nvPr/>
        </p:nvSpPr>
        <p:spPr>
          <a:xfrm>
            <a:off x="1115640" y="5459040"/>
            <a:ext cx="28342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b="0" lang="en-US" sz="1150" strike="noStrike" u="none">
                <a:solidFill>
                  <a:srgbClr val="9bb0b8"/>
                </a:solidFill>
                <a:effectLst/>
                <a:uFillTx/>
                <a:latin typeface="Arial"/>
              </a:rPr>
              <a:t>Один failed sensor</a:t>
            </a:r>
            <a:endParaRPr b="0" lang="uk-UA" sz="1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</a:pPr>
            <a:r>
              <a:rPr b="0" lang="en-US" sz="1150" strike="noStrike" u="none">
                <a:solidFill>
                  <a:srgbClr val="9bb0b8"/>
                </a:solidFill>
                <a:effectLst/>
                <a:uFillTx/>
                <a:latin typeface="Arial"/>
              </a:rPr>
              <a:t>≠ втрата всіх даних</a:t>
            </a:r>
            <a:endParaRPr b="0" lang="uk-UA" sz="1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Box 36"/>
          <p:cNvSpPr/>
          <p:nvPr/>
        </p:nvSpPr>
        <p:spPr>
          <a:xfrm>
            <a:off x="4316040" y="5504760"/>
            <a:ext cx="3654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trike="noStrike" u="none">
                <a:solidFill>
                  <a:srgbClr val="20c9a6"/>
                </a:solidFill>
                <a:effectLst/>
                <a:uFillTx/>
                <a:latin typeface="Cascadia Mono"/>
              </a:rPr>
              <a:t>02</a:t>
            </a:r>
            <a:endParaRPr b="0" lang="uk-UA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Box 37"/>
          <p:cNvSpPr/>
          <p:nvPr/>
        </p:nvSpPr>
        <p:spPr>
          <a:xfrm>
            <a:off x="4773240" y="5459040"/>
            <a:ext cx="28342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b="0" lang="en-US" sz="1150" strike="noStrike" u="none">
                <a:solidFill>
                  <a:srgbClr val="9bb0b8"/>
                </a:solidFill>
                <a:effectLst/>
                <a:uFillTx/>
                <a:latin typeface="Arial"/>
              </a:rPr>
              <a:t>ISR лише сигналізує</a:t>
            </a:r>
            <a:endParaRPr b="0" lang="uk-UA" sz="1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</a:pPr>
            <a:r>
              <a:rPr b="0" lang="en-US" sz="1150" strike="noStrike" u="none">
                <a:solidFill>
                  <a:srgbClr val="9bb0b8"/>
                </a:solidFill>
                <a:effectLst/>
                <a:uFillTx/>
                <a:latin typeface="Arial"/>
              </a:rPr>
              <a:t>задачу</a:t>
            </a:r>
            <a:endParaRPr b="0" lang="uk-UA" sz="1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Box 38"/>
          <p:cNvSpPr/>
          <p:nvPr/>
        </p:nvSpPr>
        <p:spPr>
          <a:xfrm>
            <a:off x="7973640" y="5504760"/>
            <a:ext cx="3654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trike="noStrike" u="none">
                <a:solidFill>
                  <a:srgbClr val="20c9a6"/>
                </a:solidFill>
                <a:effectLst/>
                <a:uFillTx/>
                <a:latin typeface="Cascadia Mono"/>
              </a:rPr>
              <a:t>03</a:t>
            </a:r>
            <a:endParaRPr b="0" lang="uk-UA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Box 39"/>
          <p:cNvSpPr/>
          <p:nvPr/>
        </p:nvSpPr>
        <p:spPr>
          <a:xfrm>
            <a:off x="8430840" y="5459040"/>
            <a:ext cx="28342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b="0" lang="en-US" sz="1150" strike="noStrike" u="none">
                <a:solidFill>
                  <a:srgbClr val="9bb0b8"/>
                </a:solidFill>
                <a:effectLst/>
                <a:uFillTx/>
                <a:latin typeface="Arial"/>
              </a:rPr>
              <a:t>Транспорт не створює</a:t>
            </a:r>
            <a:endParaRPr b="0" lang="uk-UA" sz="1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</a:pPr>
            <a:r>
              <a:rPr b="0" lang="en-US" sz="1150" strike="noStrike" u="none">
                <a:solidFill>
                  <a:srgbClr val="9bb0b8"/>
                </a:solidFill>
                <a:effectLst/>
                <a:uFillTx/>
                <a:latin typeface="Arial"/>
              </a:rPr>
              <a:t>payload</a:t>
            </a:r>
            <a:endParaRPr b="0" lang="uk-UA" sz="1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TextBox 1"/>
          <p:cNvSpPr/>
          <p:nvPr/>
        </p:nvSpPr>
        <p:spPr>
          <a:xfrm>
            <a:off x="594360" y="329040"/>
            <a:ext cx="5303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950" strike="noStrike" u="none">
                <a:solidFill>
                  <a:srgbClr val="087f6c"/>
                </a:solidFill>
                <a:effectLst/>
                <a:uFillTx/>
                <a:latin typeface="Arial"/>
              </a:rPr>
              <a:t>03 / АПАРАТНА ЧАСТИНА</a:t>
            </a:r>
            <a:endParaRPr b="0" lang="uk-UA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Box 2"/>
          <p:cNvSpPr/>
          <p:nvPr/>
        </p:nvSpPr>
        <p:spPr>
          <a:xfrm>
            <a:off x="594360" y="658440"/>
            <a:ext cx="109724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0232e"/>
                </a:solidFill>
                <a:effectLst/>
                <a:uFillTx/>
                <a:latin typeface="Bahnschrift"/>
              </a:rPr>
              <a:t>Дві плати, один автономний вузол</a:t>
            </a:r>
            <a:endParaRPr b="0" lang="uk-U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Box 3"/>
          <p:cNvSpPr/>
          <p:nvPr/>
        </p:nvSpPr>
        <p:spPr>
          <a:xfrm>
            <a:off x="612720" y="1225440"/>
            <a:ext cx="10789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250" strike="noStrike" u="none">
                <a:solidFill>
                  <a:srgbClr val="6c838d"/>
                </a:solidFill>
                <a:effectLst/>
                <a:uFillTx/>
                <a:latin typeface="Arial"/>
              </a:rPr>
              <a:t>Основна плата відповідає за керування, живлення й зв’язок; окрема плата — за середовище та грозові події.</a:t>
            </a:r>
            <a:endParaRPr b="0" lang="uk-UA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Box 4"/>
          <p:cNvSpPr/>
          <p:nvPr/>
        </p:nvSpPr>
        <p:spPr>
          <a:xfrm>
            <a:off x="603360" y="6537960"/>
            <a:ext cx="53031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850" strike="noStrike" u="none">
                <a:solidFill>
                  <a:srgbClr val="6c838d"/>
                </a:solidFill>
                <a:effectLst/>
                <a:uFillTx/>
                <a:latin typeface="Arial"/>
              </a:rPr>
              <a:t>METEOSTATION  /  ФІНАЛЬНИЙ ПРОЄКТ</a:t>
            </a:r>
            <a:endParaRPr b="0" lang="uk-UA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Box 5"/>
          <p:cNvSpPr/>
          <p:nvPr/>
        </p:nvSpPr>
        <p:spPr>
          <a:xfrm>
            <a:off x="11109960" y="6473880"/>
            <a:ext cx="475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1" lang="en-US" sz="1000" strike="noStrike" u="none">
                <a:solidFill>
                  <a:srgbClr val="6c838d"/>
                </a:solidFill>
                <a:effectLst/>
                <a:uFillTx/>
                <a:latin typeface="Cascadia Mono"/>
              </a:rPr>
              <a:t>04</a:t>
            </a:r>
            <a:endParaRPr b="0" lang="uk-UA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65" name="Connector 6"/>
          <p:cNvCxnSpPr/>
          <p:nvPr/>
        </p:nvCxnSpPr>
        <p:spPr>
          <a:xfrm>
            <a:off x="594360" y="6391440"/>
            <a:ext cx="11000520" cy="360"/>
          </a:xfrm>
          <a:prstGeom prst="straightConnector1">
            <a:avLst/>
          </a:prstGeom>
          <a:ln w="10160">
            <a:solidFill>
              <a:srgbClr val="d8e3e2"/>
            </a:solidFill>
            <a:round/>
          </a:ln>
        </p:spPr>
      </p:cxnSp>
      <p:sp>
        <p:nvSpPr>
          <p:cNvPr id="166" name="Rounded Rectangle 7"/>
          <p:cNvSpPr/>
          <p:nvPr/>
        </p:nvSpPr>
        <p:spPr>
          <a:xfrm>
            <a:off x="612720" y="1719000"/>
            <a:ext cx="5870160" cy="4361400"/>
          </a:xfrm>
          <a:prstGeom prst="roundRect">
            <a:avLst>
              <a:gd name="adj" fmla="val 12000"/>
            </a:avLst>
          </a:prstGeom>
          <a:solidFill>
            <a:srgbClr val="081b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67" name="Picture 8" descr="main_board_3d.png"/>
          <p:cNvPicPr/>
          <p:nvPr/>
        </p:nvPicPr>
        <p:blipFill>
          <a:blip r:embed="rId1"/>
          <a:stretch/>
        </p:blipFill>
        <p:spPr>
          <a:xfrm>
            <a:off x="786240" y="1875600"/>
            <a:ext cx="5522760" cy="3673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8" name="Rounded Rectangle 9"/>
          <p:cNvSpPr/>
          <p:nvPr/>
        </p:nvSpPr>
        <p:spPr>
          <a:xfrm>
            <a:off x="1005840" y="5586840"/>
            <a:ext cx="3017160" cy="292320"/>
          </a:xfrm>
          <a:prstGeom prst="roundRect">
            <a:avLst>
              <a:gd name="adj" fmla="val 12000"/>
            </a:avLst>
          </a:prstGeom>
          <a:solidFill>
            <a:srgbClr val="0d2633"/>
          </a:solidFill>
          <a:ln w="12700">
            <a:solidFill>
              <a:srgbClr val="28434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9" name="TextBox 10"/>
          <p:cNvSpPr/>
          <p:nvPr/>
        </p:nvSpPr>
        <p:spPr>
          <a:xfrm>
            <a:off x="1005840" y="5591520"/>
            <a:ext cx="301716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850" strike="noStrike" u="none">
                <a:solidFill>
                  <a:srgbClr val="9bb0b8"/>
                </a:solidFill>
                <a:effectLst/>
                <a:uFillTx/>
                <a:latin typeface="Arial"/>
              </a:rPr>
              <a:t>ОСНОВНА ПЛАТА • 3D-РЕНДЕР KiCad</a:t>
            </a:r>
            <a:endParaRPr b="0" lang="uk-UA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Rounded Rectangle 11"/>
          <p:cNvSpPr/>
          <p:nvPr/>
        </p:nvSpPr>
        <p:spPr>
          <a:xfrm>
            <a:off x="6739200" y="1719000"/>
            <a:ext cx="4827600" cy="115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1" name="Rectangle 12"/>
          <p:cNvSpPr/>
          <p:nvPr/>
        </p:nvSpPr>
        <p:spPr>
          <a:xfrm>
            <a:off x="6739200" y="1719000"/>
            <a:ext cx="82080" cy="1151640"/>
          </a:xfrm>
          <a:prstGeom prst="rect">
            <a:avLst/>
          </a:prstGeom>
          <a:solidFill>
            <a:srgbClr val="20c9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2" name="TextBox 13"/>
          <p:cNvSpPr/>
          <p:nvPr/>
        </p:nvSpPr>
        <p:spPr>
          <a:xfrm>
            <a:off x="7040880" y="1865520"/>
            <a:ext cx="187416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500" strike="noStrike" u="none">
                <a:solidFill>
                  <a:srgbClr val="10232e"/>
                </a:solidFill>
                <a:effectLst/>
                <a:uFillTx/>
                <a:latin typeface="Bahnschrift"/>
              </a:rPr>
              <a:t>Керування та RF</a:t>
            </a:r>
            <a:endParaRPr b="0" lang="uk-UA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Box 14"/>
          <p:cNvSpPr/>
          <p:nvPr/>
        </p:nvSpPr>
        <p:spPr>
          <a:xfrm>
            <a:off x="8832960" y="1837800"/>
            <a:ext cx="243180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b="0" lang="en-US" sz="1150" strike="noStrike" u="none">
                <a:solidFill>
                  <a:srgbClr val="28424e"/>
                </a:solidFill>
                <a:effectLst/>
                <a:uFillTx/>
                <a:latin typeface="Cascadia Mono"/>
              </a:rPr>
              <a:t>ESP32-C3-WROOM-02</a:t>
            </a:r>
            <a:endParaRPr b="0" lang="uk-UA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150" strike="noStrike" u="none">
                <a:solidFill>
                  <a:srgbClr val="28424e"/>
                </a:solidFill>
                <a:effectLst/>
                <a:uFillTx/>
                <a:latin typeface="Cascadia Mono"/>
              </a:rPr>
              <a:t>SX1262 / E22-900M22S</a:t>
            </a:r>
            <a:endParaRPr b="0" lang="uk-UA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</a:pPr>
            <a:r>
              <a:rPr b="0" lang="en-US" sz="1150" strike="noStrike" u="none">
                <a:solidFill>
                  <a:srgbClr val="28424e"/>
                </a:solidFill>
                <a:effectLst/>
                <a:uFillTx/>
                <a:latin typeface="Cascadia Mono"/>
              </a:rPr>
              <a:t>SPI + DIO2 RF-switch</a:t>
            </a:r>
            <a:endParaRPr b="0" lang="uk-UA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Rounded Rectangle 15"/>
          <p:cNvSpPr/>
          <p:nvPr/>
        </p:nvSpPr>
        <p:spPr>
          <a:xfrm>
            <a:off x="6739200" y="3072240"/>
            <a:ext cx="4827600" cy="115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5" name="Rectangle 16"/>
          <p:cNvSpPr/>
          <p:nvPr/>
        </p:nvSpPr>
        <p:spPr>
          <a:xfrm>
            <a:off x="6739200" y="3072240"/>
            <a:ext cx="82080" cy="1151640"/>
          </a:xfrm>
          <a:prstGeom prst="rect">
            <a:avLst/>
          </a:prstGeom>
          <a:solidFill>
            <a:srgbClr val="b5dc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6" name="TextBox 17"/>
          <p:cNvSpPr/>
          <p:nvPr/>
        </p:nvSpPr>
        <p:spPr>
          <a:xfrm>
            <a:off x="7040880" y="3218760"/>
            <a:ext cx="187416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500" strike="noStrike" u="none">
                <a:solidFill>
                  <a:srgbClr val="10232e"/>
                </a:solidFill>
                <a:effectLst/>
                <a:uFillTx/>
                <a:latin typeface="Bahnschrift"/>
              </a:rPr>
              <a:t>Живлення</a:t>
            </a:r>
            <a:endParaRPr b="0" lang="uk-UA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Box 18"/>
          <p:cNvSpPr/>
          <p:nvPr/>
        </p:nvSpPr>
        <p:spPr>
          <a:xfrm>
            <a:off x="8832960" y="3191400"/>
            <a:ext cx="243180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b="0" lang="en-US" sz="1150" strike="noStrike" u="none">
                <a:solidFill>
                  <a:srgbClr val="28424e"/>
                </a:solidFill>
                <a:effectLst/>
                <a:uFillTx/>
                <a:latin typeface="Cascadia Mono"/>
              </a:rPr>
              <a:t>1S LiFePO₄ • USB • Solar</a:t>
            </a:r>
            <a:endParaRPr b="0" lang="uk-UA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150" strike="noStrike" u="none">
                <a:solidFill>
                  <a:srgbClr val="28424e"/>
                </a:solidFill>
                <a:effectLst/>
                <a:uFillTx/>
                <a:latin typeface="Cascadia Mono"/>
              </a:rPr>
              <a:t>TP5000 — зарядка</a:t>
            </a:r>
            <a:endParaRPr b="0" lang="uk-UA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</a:pPr>
            <a:r>
              <a:rPr b="0" lang="en-US" sz="1150" strike="noStrike" u="none">
                <a:solidFill>
                  <a:srgbClr val="28424e"/>
                </a:solidFill>
                <a:effectLst/>
                <a:uFillTx/>
                <a:latin typeface="Cascadia Mono"/>
              </a:rPr>
              <a:t>TPS2121 — вибір джерела</a:t>
            </a:r>
            <a:endParaRPr b="0" lang="uk-UA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Rounded Rectangle 19"/>
          <p:cNvSpPr/>
          <p:nvPr/>
        </p:nvSpPr>
        <p:spPr>
          <a:xfrm>
            <a:off x="6739200" y="4425840"/>
            <a:ext cx="4827600" cy="115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9" name="Rectangle 20"/>
          <p:cNvSpPr/>
          <p:nvPr/>
        </p:nvSpPr>
        <p:spPr>
          <a:xfrm>
            <a:off x="6739200" y="4425840"/>
            <a:ext cx="82080" cy="1151640"/>
          </a:xfrm>
          <a:prstGeom prst="rect">
            <a:avLst/>
          </a:prstGeom>
          <a:solidFill>
            <a:srgbClr val="55be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0" name="TextBox 21"/>
          <p:cNvSpPr/>
          <p:nvPr/>
        </p:nvSpPr>
        <p:spPr>
          <a:xfrm>
            <a:off x="7040880" y="4572000"/>
            <a:ext cx="187416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500" strike="noStrike" u="none">
                <a:solidFill>
                  <a:srgbClr val="10232e"/>
                </a:solidFill>
                <a:effectLst/>
                <a:uFillTx/>
                <a:latin typeface="Bahnschrift"/>
              </a:rPr>
              <a:t>Плата датчиків</a:t>
            </a:r>
            <a:endParaRPr b="0" lang="uk-UA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Box 22"/>
          <p:cNvSpPr/>
          <p:nvPr/>
        </p:nvSpPr>
        <p:spPr>
          <a:xfrm>
            <a:off x="8832960" y="4544640"/>
            <a:ext cx="243180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b="0" lang="en-US" sz="1150" strike="noStrike" u="none">
                <a:solidFill>
                  <a:srgbClr val="28424e"/>
                </a:solidFill>
                <a:effectLst/>
                <a:uFillTx/>
                <a:latin typeface="Cascadia Mono"/>
              </a:rPr>
              <a:t>BME280 — T / P / RH</a:t>
            </a:r>
            <a:endParaRPr b="0" lang="uk-UA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150" strike="noStrike" u="none">
                <a:solidFill>
                  <a:srgbClr val="28424e"/>
                </a:solidFill>
                <a:effectLst/>
                <a:uFillTx/>
                <a:latin typeface="Cascadia Mono"/>
              </a:rPr>
              <a:t>AS3935 — блискавки</a:t>
            </a:r>
            <a:endParaRPr b="0" lang="uk-UA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</a:pPr>
            <a:r>
              <a:rPr b="0" lang="en-US" sz="1150" strike="noStrike" u="none">
                <a:solidFill>
                  <a:srgbClr val="28424e"/>
                </a:solidFill>
                <a:effectLst/>
                <a:uFillTx/>
                <a:latin typeface="Cascadia Mono"/>
              </a:rPr>
              <a:t>WAKE_IRQ → GPIO1</a:t>
            </a:r>
            <a:endParaRPr b="0" lang="uk-UA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Rounded Rectangle 23"/>
          <p:cNvSpPr/>
          <p:nvPr/>
        </p:nvSpPr>
        <p:spPr>
          <a:xfrm>
            <a:off x="6739200" y="5797440"/>
            <a:ext cx="4827600" cy="282960"/>
          </a:xfrm>
          <a:prstGeom prst="roundRect">
            <a:avLst>
              <a:gd name="adj" fmla="val 12000"/>
            </a:avLst>
          </a:prstGeom>
          <a:solidFill>
            <a:srgbClr val="ddf6e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3" name="TextBox 24"/>
          <p:cNvSpPr/>
          <p:nvPr/>
        </p:nvSpPr>
        <p:spPr>
          <a:xfrm>
            <a:off x="6903720" y="5843160"/>
            <a:ext cx="4480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050" strike="noStrike" u="none">
                <a:solidFill>
                  <a:srgbClr val="087f6c"/>
                </a:solidFill>
                <a:effectLst/>
                <a:uFillTx/>
                <a:latin typeface="Arial"/>
              </a:rPr>
              <a:t>DS3231 + CR2032 зберігають час між циклами</a:t>
            </a:r>
            <a:endParaRPr b="0" lang="uk-UA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TextBox 1"/>
          <p:cNvSpPr/>
          <p:nvPr/>
        </p:nvSpPr>
        <p:spPr>
          <a:xfrm>
            <a:off x="594360" y="329040"/>
            <a:ext cx="5303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950" strike="noStrike" u="none">
                <a:solidFill>
                  <a:srgbClr val="087f6c"/>
                </a:solidFill>
                <a:effectLst/>
                <a:uFillTx/>
                <a:latin typeface="Arial"/>
              </a:rPr>
              <a:t>03 / АПАРАТНА ЧАСТИНА</a:t>
            </a:r>
            <a:endParaRPr b="0" lang="uk-UA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Box 2"/>
          <p:cNvSpPr/>
          <p:nvPr/>
        </p:nvSpPr>
        <p:spPr>
          <a:xfrm>
            <a:off x="594360" y="658440"/>
            <a:ext cx="109724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0232e"/>
                </a:solidFill>
                <a:effectLst/>
                <a:uFillTx/>
                <a:latin typeface="Bahnschrift"/>
              </a:rPr>
              <a:t>Що саме вимірює станція</a:t>
            </a:r>
            <a:endParaRPr b="0" lang="uk-U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Box 3"/>
          <p:cNvSpPr/>
          <p:nvPr/>
        </p:nvSpPr>
        <p:spPr>
          <a:xfrm>
            <a:off x="612720" y="1225440"/>
            <a:ext cx="10789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250" strike="noStrike" u="none">
                <a:solidFill>
                  <a:srgbClr val="6c838d"/>
                </a:solidFill>
                <a:effectLst/>
                <a:uFillTx/>
                <a:latin typeface="Arial"/>
              </a:rPr>
              <a:t>Метеодані доповнені власною енергетичною телеметрією та джерелом точного часу.</a:t>
            </a:r>
            <a:endParaRPr b="0" lang="uk-UA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Box 4"/>
          <p:cNvSpPr/>
          <p:nvPr/>
        </p:nvSpPr>
        <p:spPr>
          <a:xfrm>
            <a:off x="603360" y="6537960"/>
            <a:ext cx="53031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850" strike="noStrike" u="none">
                <a:solidFill>
                  <a:srgbClr val="6c838d"/>
                </a:solidFill>
                <a:effectLst/>
                <a:uFillTx/>
                <a:latin typeface="Arial"/>
              </a:rPr>
              <a:t>METEOSTATION  /  ФІНАЛЬНИЙ ПРОЄКТ</a:t>
            </a:r>
            <a:endParaRPr b="0" lang="uk-UA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Box 5"/>
          <p:cNvSpPr/>
          <p:nvPr/>
        </p:nvSpPr>
        <p:spPr>
          <a:xfrm>
            <a:off x="11109960" y="6473880"/>
            <a:ext cx="475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1" lang="en-US" sz="1000" strike="noStrike" u="none">
                <a:solidFill>
                  <a:srgbClr val="6c838d"/>
                </a:solidFill>
                <a:effectLst/>
                <a:uFillTx/>
                <a:latin typeface="Cascadia Mono"/>
              </a:rPr>
              <a:t>05</a:t>
            </a:r>
            <a:endParaRPr b="0" lang="uk-UA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89" name="Connector 6"/>
          <p:cNvCxnSpPr/>
          <p:nvPr/>
        </p:nvCxnSpPr>
        <p:spPr>
          <a:xfrm>
            <a:off x="594360" y="6391440"/>
            <a:ext cx="11000520" cy="360"/>
          </a:xfrm>
          <a:prstGeom prst="straightConnector1">
            <a:avLst/>
          </a:prstGeom>
          <a:ln w="10160">
            <a:solidFill>
              <a:srgbClr val="d8e3e2"/>
            </a:solidFill>
            <a:round/>
          </a:ln>
        </p:spPr>
      </p:cxnSp>
      <p:sp>
        <p:nvSpPr>
          <p:cNvPr id="190" name="Rounded Rectangle 7"/>
          <p:cNvSpPr/>
          <p:nvPr/>
        </p:nvSpPr>
        <p:spPr>
          <a:xfrm>
            <a:off x="612720" y="1737360"/>
            <a:ext cx="3821760" cy="1846800"/>
          </a:xfrm>
          <a:prstGeom prst="roundRect">
            <a:avLst>
              <a:gd name="adj" fmla="val 12000"/>
            </a:avLst>
          </a:prstGeom>
          <a:solidFill>
            <a:srgbClr val="081b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1" name="Rounded Rectangle 8"/>
          <p:cNvSpPr/>
          <p:nvPr/>
        </p:nvSpPr>
        <p:spPr>
          <a:xfrm>
            <a:off x="877680" y="1984320"/>
            <a:ext cx="895680" cy="292320"/>
          </a:xfrm>
          <a:prstGeom prst="roundRect">
            <a:avLst>
              <a:gd name="adj" fmla="val 12000"/>
            </a:avLst>
          </a:prstGeom>
          <a:solidFill>
            <a:srgbClr val="20c9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2" name="TextBox 9"/>
          <p:cNvSpPr/>
          <p:nvPr/>
        </p:nvSpPr>
        <p:spPr>
          <a:xfrm>
            <a:off x="877680" y="1988640"/>
            <a:ext cx="89568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1000" strike="noStrike" u="none">
                <a:solidFill>
                  <a:srgbClr val="081b26"/>
                </a:solidFill>
                <a:effectLst/>
                <a:uFillTx/>
                <a:latin typeface="Arial"/>
              </a:rPr>
              <a:t>BME280</a:t>
            </a:r>
            <a:endParaRPr b="0" lang="uk-UA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Box 10"/>
          <p:cNvSpPr/>
          <p:nvPr/>
        </p:nvSpPr>
        <p:spPr>
          <a:xfrm>
            <a:off x="877680" y="2450520"/>
            <a:ext cx="2422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000" strike="noStrike" u="none">
                <a:solidFill>
                  <a:srgbClr val="f7fafa"/>
                </a:solidFill>
                <a:effectLst/>
                <a:uFillTx/>
                <a:latin typeface="Bahnschrift"/>
              </a:rPr>
              <a:t>Середовище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Box 11"/>
          <p:cNvSpPr/>
          <p:nvPr/>
        </p:nvSpPr>
        <p:spPr>
          <a:xfrm>
            <a:off x="877680" y="291708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700" strike="noStrike" u="none">
                <a:solidFill>
                  <a:srgbClr val="20c9a6"/>
                </a:solidFill>
                <a:effectLst/>
                <a:uFillTx/>
                <a:latin typeface="Cascadia Mono"/>
              </a:rPr>
              <a:t>°C</a:t>
            </a:r>
            <a:endParaRPr b="0" lang="uk-UA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Box 12"/>
          <p:cNvSpPr/>
          <p:nvPr/>
        </p:nvSpPr>
        <p:spPr>
          <a:xfrm>
            <a:off x="877680" y="3237120"/>
            <a:ext cx="10054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850" strike="noStrike" u="none">
                <a:solidFill>
                  <a:srgbClr val="9bb0b8"/>
                </a:solidFill>
                <a:effectLst/>
                <a:uFillTx/>
                <a:latin typeface="Arial"/>
              </a:rPr>
              <a:t>температура</a:t>
            </a:r>
            <a:endParaRPr b="0" lang="uk-UA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Box 13"/>
          <p:cNvSpPr/>
          <p:nvPr/>
        </p:nvSpPr>
        <p:spPr>
          <a:xfrm>
            <a:off x="1956960" y="291708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700" strike="noStrike" u="none">
                <a:solidFill>
                  <a:srgbClr val="20c9a6"/>
                </a:solidFill>
                <a:effectLst/>
                <a:uFillTx/>
                <a:latin typeface="Cascadia Mono"/>
              </a:rPr>
              <a:t>Pa</a:t>
            </a:r>
            <a:endParaRPr b="0" lang="uk-UA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Box 14"/>
          <p:cNvSpPr/>
          <p:nvPr/>
        </p:nvSpPr>
        <p:spPr>
          <a:xfrm>
            <a:off x="1956960" y="3237120"/>
            <a:ext cx="10054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850" strike="noStrike" u="none">
                <a:solidFill>
                  <a:srgbClr val="9bb0b8"/>
                </a:solidFill>
                <a:effectLst/>
                <a:uFillTx/>
                <a:latin typeface="Arial"/>
              </a:rPr>
              <a:t>тиск</a:t>
            </a:r>
            <a:endParaRPr b="0" lang="uk-UA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Box 15"/>
          <p:cNvSpPr/>
          <p:nvPr/>
        </p:nvSpPr>
        <p:spPr>
          <a:xfrm>
            <a:off x="3035880" y="291708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700" strike="noStrike" u="none">
                <a:solidFill>
                  <a:srgbClr val="20c9a6"/>
                </a:solidFill>
                <a:effectLst/>
                <a:uFillTx/>
                <a:latin typeface="Cascadia Mono"/>
              </a:rPr>
              <a:t>%RH</a:t>
            </a:r>
            <a:endParaRPr b="0" lang="uk-UA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Box 16"/>
          <p:cNvSpPr/>
          <p:nvPr/>
        </p:nvSpPr>
        <p:spPr>
          <a:xfrm>
            <a:off x="3035880" y="3237120"/>
            <a:ext cx="10054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850" strike="noStrike" u="none">
                <a:solidFill>
                  <a:srgbClr val="9bb0b8"/>
                </a:solidFill>
                <a:effectLst/>
                <a:uFillTx/>
                <a:latin typeface="Arial"/>
              </a:rPr>
              <a:t>вологість</a:t>
            </a:r>
            <a:endParaRPr b="0" lang="uk-UA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Rounded Rectangle 17"/>
          <p:cNvSpPr/>
          <p:nvPr/>
        </p:nvSpPr>
        <p:spPr>
          <a:xfrm>
            <a:off x="4645080" y="1737360"/>
            <a:ext cx="3245760" cy="1846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1" name="Rounded Rectangle 18"/>
          <p:cNvSpPr/>
          <p:nvPr/>
        </p:nvSpPr>
        <p:spPr>
          <a:xfrm>
            <a:off x="4864680" y="1938600"/>
            <a:ext cx="1023840" cy="292320"/>
          </a:xfrm>
          <a:prstGeom prst="roundRect">
            <a:avLst>
              <a:gd name="adj" fmla="val 12000"/>
            </a:avLst>
          </a:prstGeom>
          <a:solidFill>
            <a:srgbClr val="f0b95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2" name="TextBox 19"/>
          <p:cNvSpPr/>
          <p:nvPr/>
        </p:nvSpPr>
        <p:spPr>
          <a:xfrm>
            <a:off x="4864680" y="1943280"/>
            <a:ext cx="102384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900" strike="noStrike" u="none">
                <a:solidFill>
                  <a:srgbClr val="081b26"/>
                </a:solidFill>
                <a:effectLst/>
                <a:uFillTx/>
                <a:latin typeface="Arial"/>
              </a:rPr>
              <a:t>AS3935</a:t>
            </a:r>
            <a:endParaRPr b="0" lang="uk-UA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Box 20"/>
          <p:cNvSpPr/>
          <p:nvPr/>
        </p:nvSpPr>
        <p:spPr>
          <a:xfrm>
            <a:off x="4864680" y="2359080"/>
            <a:ext cx="280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600" strike="noStrike" u="none">
                <a:solidFill>
                  <a:srgbClr val="10232e"/>
                </a:solidFill>
                <a:effectLst/>
                <a:uFillTx/>
                <a:latin typeface="Bahnschrift"/>
              </a:rPr>
              <a:t>Грозова подія</a:t>
            </a:r>
            <a:endParaRPr b="0" lang="uk-UA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Box 21"/>
          <p:cNvSpPr/>
          <p:nvPr/>
        </p:nvSpPr>
        <p:spPr>
          <a:xfrm>
            <a:off x="4864680" y="2715840"/>
            <a:ext cx="280692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b="0" lang="en-US" sz="1120" strike="noStrike" u="none">
                <a:solidFill>
                  <a:srgbClr val="28424e"/>
                </a:solidFill>
                <a:effectLst/>
                <a:uFillTx/>
                <a:latin typeface="Cascadia Mono"/>
              </a:rPr>
              <a:t>distance_km  +  energy</a:t>
            </a:r>
            <a:endParaRPr b="0" lang="uk-UA" sz="1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</a:pPr>
            <a:r>
              <a:rPr b="0" lang="en-US" sz="1120" strike="noStrike" u="none">
                <a:solidFill>
                  <a:srgbClr val="28424e"/>
                </a:solidFill>
                <a:effectLst/>
                <a:uFillTx/>
                <a:latin typeface="Cascadia Mono"/>
              </a:rPr>
              <a:t>Фільтрація non-lightning IRQ</a:t>
            </a:r>
            <a:endParaRPr b="0" lang="uk-UA" sz="1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Rounded Rectangle 22"/>
          <p:cNvSpPr/>
          <p:nvPr/>
        </p:nvSpPr>
        <p:spPr>
          <a:xfrm>
            <a:off x="8101440" y="1737360"/>
            <a:ext cx="3465360" cy="1846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6" name="Rounded Rectangle 23"/>
          <p:cNvSpPr/>
          <p:nvPr/>
        </p:nvSpPr>
        <p:spPr>
          <a:xfrm>
            <a:off x="8321040" y="1938600"/>
            <a:ext cx="1206720" cy="292320"/>
          </a:xfrm>
          <a:prstGeom prst="roundRect">
            <a:avLst>
              <a:gd name="adj" fmla="val 12000"/>
            </a:avLst>
          </a:prstGeom>
          <a:solidFill>
            <a:srgbClr val="b5dc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7" name="TextBox 24"/>
          <p:cNvSpPr/>
          <p:nvPr/>
        </p:nvSpPr>
        <p:spPr>
          <a:xfrm>
            <a:off x="8321040" y="1943280"/>
            <a:ext cx="12067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900" strike="noStrike" u="none">
                <a:solidFill>
                  <a:srgbClr val="081b26"/>
                </a:solidFill>
                <a:effectLst/>
                <a:uFillTx/>
                <a:latin typeface="Arial"/>
              </a:rPr>
              <a:t>INA226 ×2</a:t>
            </a:r>
            <a:endParaRPr b="0" lang="uk-UA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Box 25"/>
          <p:cNvSpPr/>
          <p:nvPr/>
        </p:nvSpPr>
        <p:spPr>
          <a:xfrm>
            <a:off x="8321040" y="2359080"/>
            <a:ext cx="3026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600" strike="noStrike" u="none">
                <a:solidFill>
                  <a:srgbClr val="10232e"/>
                </a:solidFill>
                <a:effectLst/>
                <a:uFillTx/>
                <a:latin typeface="Bahnschrift"/>
              </a:rPr>
              <a:t>Енергетика</a:t>
            </a:r>
            <a:endParaRPr b="0" lang="uk-UA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Box 26"/>
          <p:cNvSpPr/>
          <p:nvPr/>
        </p:nvSpPr>
        <p:spPr>
          <a:xfrm>
            <a:off x="8321040" y="2715840"/>
            <a:ext cx="302616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b="0" lang="en-US" sz="1120" strike="noStrike" u="none">
                <a:solidFill>
                  <a:srgbClr val="28424e"/>
                </a:solidFill>
                <a:effectLst/>
                <a:uFillTx/>
                <a:latin typeface="Cascadia Mono"/>
              </a:rPr>
              <a:t>Battery:  U / I / P</a:t>
            </a:r>
            <a:endParaRPr b="0" lang="uk-UA" sz="1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</a:pPr>
            <a:r>
              <a:rPr b="0" lang="en-US" sz="1120" strike="noStrike" u="none">
                <a:solidFill>
                  <a:srgbClr val="28424e"/>
                </a:solidFill>
                <a:effectLst/>
                <a:uFillTx/>
                <a:latin typeface="Cascadia Mono"/>
              </a:rPr>
              <a:t>Solar:      U / I / P</a:t>
            </a:r>
            <a:endParaRPr b="0" lang="uk-UA" sz="1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Rounded Rectangle 27"/>
          <p:cNvSpPr/>
          <p:nvPr/>
        </p:nvSpPr>
        <p:spPr>
          <a:xfrm>
            <a:off x="612720" y="3822120"/>
            <a:ext cx="3821760" cy="1407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1" name="Rounded Rectangle 28"/>
          <p:cNvSpPr/>
          <p:nvPr/>
        </p:nvSpPr>
        <p:spPr>
          <a:xfrm>
            <a:off x="831960" y="4023360"/>
            <a:ext cx="1023840" cy="292320"/>
          </a:xfrm>
          <a:prstGeom prst="roundRect">
            <a:avLst>
              <a:gd name="adj" fmla="val 12000"/>
            </a:avLst>
          </a:prstGeom>
          <a:solidFill>
            <a:srgbClr val="55be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2" name="TextBox 29"/>
          <p:cNvSpPr/>
          <p:nvPr/>
        </p:nvSpPr>
        <p:spPr>
          <a:xfrm>
            <a:off x="831960" y="4028040"/>
            <a:ext cx="102384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900" strike="noStrike" u="none">
                <a:solidFill>
                  <a:srgbClr val="081b26"/>
                </a:solidFill>
                <a:effectLst/>
                <a:uFillTx/>
                <a:latin typeface="Arial"/>
              </a:rPr>
              <a:t>DS3231</a:t>
            </a:r>
            <a:endParaRPr b="0" lang="uk-UA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Box 30"/>
          <p:cNvSpPr/>
          <p:nvPr/>
        </p:nvSpPr>
        <p:spPr>
          <a:xfrm>
            <a:off x="831960" y="4443840"/>
            <a:ext cx="3382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600" strike="noStrike" u="none">
                <a:solidFill>
                  <a:srgbClr val="10232e"/>
                </a:solidFill>
                <a:effectLst/>
                <a:uFillTx/>
                <a:latin typeface="Bahnschrift"/>
              </a:rPr>
              <a:t>Час</a:t>
            </a:r>
            <a:endParaRPr b="0" lang="uk-UA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Box 31"/>
          <p:cNvSpPr/>
          <p:nvPr/>
        </p:nvSpPr>
        <p:spPr>
          <a:xfrm>
            <a:off x="831960" y="4800600"/>
            <a:ext cx="3382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b="0" lang="en-US" sz="1120" strike="noStrike" u="none">
                <a:solidFill>
                  <a:srgbClr val="28424e"/>
                </a:solidFill>
                <a:effectLst/>
                <a:uFillTx/>
                <a:latin typeface="Cascadia Mono"/>
              </a:rPr>
              <a:t>Unix timestamp</a:t>
            </a:r>
            <a:endParaRPr b="0" lang="uk-UA" sz="1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</a:pPr>
            <a:r>
              <a:rPr b="0" lang="en-US" sz="1120" strike="noStrike" u="none">
                <a:solidFill>
                  <a:srgbClr val="28424e"/>
                </a:solidFill>
                <a:effectLst/>
                <a:uFillTx/>
                <a:latin typeface="Cascadia Mono"/>
              </a:rPr>
              <a:t>CR2032 backup</a:t>
            </a:r>
            <a:endParaRPr b="0" lang="uk-UA" sz="1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Rounded Rectangle 32"/>
          <p:cNvSpPr/>
          <p:nvPr/>
        </p:nvSpPr>
        <p:spPr>
          <a:xfrm>
            <a:off x="4645080" y="3822120"/>
            <a:ext cx="3245760" cy="1407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6" name="Rounded Rectangle 33"/>
          <p:cNvSpPr/>
          <p:nvPr/>
        </p:nvSpPr>
        <p:spPr>
          <a:xfrm>
            <a:off x="4864680" y="4023360"/>
            <a:ext cx="1023840" cy="292320"/>
          </a:xfrm>
          <a:prstGeom prst="roundRect">
            <a:avLst>
              <a:gd name="adj" fmla="val 12000"/>
            </a:avLst>
          </a:prstGeom>
          <a:solidFill>
            <a:srgbClr val="20c9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7" name="TextBox 34"/>
          <p:cNvSpPr/>
          <p:nvPr/>
        </p:nvSpPr>
        <p:spPr>
          <a:xfrm>
            <a:off x="4864680" y="4028040"/>
            <a:ext cx="102384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900" strike="noStrike" u="none">
                <a:solidFill>
                  <a:srgbClr val="081b26"/>
                </a:solidFill>
                <a:effectLst/>
                <a:uFillTx/>
                <a:latin typeface="Arial"/>
              </a:rPr>
              <a:t>PCA9536</a:t>
            </a:r>
            <a:endParaRPr b="0" lang="uk-UA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Box 35"/>
          <p:cNvSpPr/>
          <p:nvPr/>
        </p:nvSpPr>
        <p:spPr>
          <a:xfrm>
            <a:off x="4864680" y="4443840"/>
            <a:ext cx="280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600" strike="noStrike" u="none">
                <a:solidFill>
                  <a:srgbClr val="10232e"/>
                </a:solidFill>
                <a:effectLst/>
                <a:uFillTx/>
                <a:latin typeface="Bahnschrift"/>
              </a:rPr>
              <a:t>Стан плати</a:t>
            </a:r>
            <a:endParaRPr b="0" lang="uk-UA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Box 36"/>
          <p:cNvSpPr/>
          <p:nvPr/>
        </p:nvSpPr>
        <p:spPr>
          <a:xfrm>
            <a:off x="4864680" y="4800600"/>
            <a:ext cx="2806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120" strike="noStrike" u="none">
                <a:solidFill>
                  <a:srgbClr val="28424e"/>
                </a:solidFill>
                <a:effectLst/>
                <a:uFillTx/>
                <a:latin typeface="Cascadia Mono"/>
              </a:rPr>
              <a:t>J4  •  CHRG  •  STDBY</a:t>
            </a:r>
            <a:endParaRPr b="0" lang="uk-UA" sz="1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Rounded Rectangle 37"/>
          <p:cNvSpPr/>
          <p:nvPr/>
        </p:nvSpPr>
        <p:spPr>
          <a:xfrm>
            <a:off x="8101440" y="3822120"/>
            <a:ext cx="3465360" cy="1407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1" name="Rounded Rectangle 38"/>
          <p:cNvSpPr/>
          <p:nvPr/>
        </p:nvSpPr>
        <p:spPr>
          <a:xfrm>
            <a:off x="8321040" y="4023360"/>
            <a:ext cx="1023840" cy="292320"/>
          </a:xfrm>
          <a:prstGeom prst="roundRect">
            <a:avLst>
              <a:gd name="adj" fmla="val 12000"/>
            </a:avLst>
          </a:prstGeom>
          <a:solidFill>
            <a:srgbClr val="55be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2" name="TextBox 39"/>
          <p:cNvSpPr/>
          <p:nvPr/>
        </p:nvSpPr>
        <p:spPr>
          <a:xfrm>
            <a:off x="8321040" y="4028040"/>
            <a:ext cx="102384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900" strike="noStrike" u="none">
                <a:solidFill>
                  <a:srgbClr val="081b26"/>
                </a:solidFill>
                <a:effectLst/>
                <a:uFillTx/>
                <a:latin typeface="Arial"/>
              </a:rPr>
              <a:t>ESP32-C3</a:t>
            </a:r>
            <a:endParaRPr b="0" lang="uk-UA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Box 40"/>
          <p:cNvSpPr/>
          <p:nvPr/>
        </p:nvSpPr>
        <p:spPr>
          <a:xfrm>
            <a:off x="8321040" y="4443840"/>
            <a:ext cx="3026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600" strike="noStrike" u="none">
                <a:solidFill>
                  <a:srgbClr val="10232e"/>
                </a:solidFill>
                <a:effectLst/>
                <a:uFillTx/>
                <a:latin typeface="Bahnschrift"/>
              </a:rPr>
              <a:t>Діагностика</a:t>
            </a:r>
            <a:endParaRPr b="0" lang="uk-UA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Box 41"/>
          <p:cNvSpPr/>
          <p:nvPr/>
        </p:nvSpPr>
        <p:spPr>
          <a:xfrm>
            <a:off x="8321040" y="4800600"/>
            <a:ext cx="3026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b="0" lang="en-US" sz="1120" strike="noStrike" u="none">
                <a:solidFill>
                  <a:srgbClr val="28424e"/>
                </a:solidFill>
                <a:effectLst/>
                <a:uFillTx/>
                <a:latin typeface="Cascadia Mono"/>
              </a:rPr>
              <a:t>boot count  •  reset / wake reason</a:t>
            </a:r>
            <a:endParaRPr b="0" lang="uk-UA" sz="1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</a:pPr>
            <a:r>
              <a:rPr b="0" lang="en-US" sz="1120" strike="noStrike" u="none">
                <a:solidFill>
                  <a:srgbClr val="28424e"/>
                </a:solidFill>
                <a:effectLst/>
                <a:uFillTx/>
                <a:latin typeface="Cascadia Mono"/>
              </a:rPr>
              <a:t>failure counters</a:t>
            </a:r>
            <a:endParaRPr b="0" lang="uk-UA" sz="1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Rounded Rectangle 42"/>
          <p:cNvSpPr/>
          <p:nvPr/>
        </p:nvSpPr>
        <p:spPr>
          <a:xfrm>
            <a:off x="612720" y="5477400"/>
            <a:ext cx="10954080" cy="612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6" name="TextBox 43"/>
          <p:cNvSpPr/>
          <p:nvPr/>
        </p:nvSpPr>
        <p:spPr>
          <a:xfrm>
            <a:off x="850320" y="5669280"/>
            <a:ext cx="420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300" strike="noStrike" u="none">
                <a:solidFill>
                  <a:srgbClr val="087f6c"/>
                </a:solidFill>
                <a:effectLst/>
                <a:uFillTx/>
                <a:latin typeface="Cascadia Mono"/>
              </a:rPr>
              <a:t>I²C</a:t>
            </a:r>
            <a:endParaRPr b="0" lang="uk-UA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Box 44"/>
          <p:cNvSpPr/>
          <p:nvPr/>
        </p:nvSpPr>
        <p:spPr>
          <a:xfrm>
            <a:off x="1481400" y="5641920"/>
            <a:ext cx="15174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50" strike="noStrike" u="none">
                <a:solidFill>
                  <a:srgbClr val="10232e"/>
                </a:solidFill>
                <a:effectLst/>
                <a:uFillTx/>
                <a:latin typeface="Cascadia Mono"/>
              </a:rPr>
              <a:t>0x03</a:t>
            </a:r>
            <a:r>
              <a:rPr b="0" lang="en-US" sz="1000" strike="noStrike" u="none">
                <a:solidFill>
                  <a:srgbClr val="6c838d"/>
                </a:solidFill>
                <a:effectLst/>
                <a:uFillTx/>
                <a:latin typeface="Arial"/>
              </a:rPr>
              <a:t>  AS3935</a:t>
            </a:r>
            <a:endParaRPr b="0" lang="uk-UA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Box 45"/>
          <p:cNvSpPr/>
          <p:nvPr/>
        </p:nvSpPr>
        <p:spPr>
          <a:xfrm>
            <a:off x="3108960" y="5641920"/>
            <a:ext cx="15174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50" strike="noStrike" u="none">
                <a:solidFill>
                  <a:srgbClr val="10232e"/>
                </a:solidFill>
                <a:effectLst/>
                <a:uFillTx/>
                <a:latin typeface="Cascadia Mono"/>
              </a:rPr>
              <a:t>0x40</a:t>
            </a:r>
            <a:r>
              <a:rPr b="0" lang="en-US" sz="1000" strike="noStrike" u="none">
                <a:solidFill>
                  <a:srgbClr val="6c838d"/>
                </a:solidFill>
                <a:effectLst/>
                <a:uFillTx/>
                <a:latin typeface="Arial"/>
              </a:rPr>
              <a:t>  Solar</a:t>
            </a:r>
            <a:endParaRPr b="0" lang="uk-UA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Box 46"/>
          <p:cNvSpPr/>
          <p:nvPr/>
        </p:nvSpPr>
        <p:spPr>
          <a:xfrm>
            <a:off x="4736520" y="5641920"/>
            <a:ext cx="15174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50" strike="noStrike" u="none">
                <a:solidFill>
                  <a:srgbClr val="10232e"/>
                </a:solidFill>
                <a:effectLst/>
                <a:uFillTx/>
                <a:latin typeface="Cascadia Mono"/>
              </a:rPr>
              <a:t>0x41</a:t>
            </a:r>
            <a:r>
              <a:rPr b="0" lang="en-US" sz="1000" strike="noStrike" u="none">
                <a:solidFill>
                  <a:srgbClr val="6c838d"/>
                </a:solidFill>
                <a:effectLst/>
                <a:uFillTx/>
                <a:latin typeface="Arial"/>
              </a:rPr>
              <a:t>  PCA9536</a:t>
            </a:r>
            <a:endParaRPr b="0" lang="uk-UA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Box 47"/>
          <p:cNvSpPr/>
          <p:nvPr/>
        </p:nvSpPr>
        <p:spPr>
          <a:xfrm>
            <a:off x="6364080" y="5641920"/>
            <a:ext cx="15174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50" strike="noStrike" u="none">
                <a:solidFill>
                  <a:srgbClr val="10232e"/>
                </a:solidFill>
                <a:effectLst/>
                <a:uFillTx/>
                <a:latin typeface="Cascadia Mono"/>
              </a:rPr>
              <a:t>0x44</a:t>
            </a:r>
            <a:r>
              <a:rPr b="0" lang="en-US" sz="1000" strike="noStrike" u="none">
                <a:solidFill>
                  <a:srgbClr val="6c838d"/>
                </a:solidFill>
                <a:effectLst/>
                <a:uFillTx/>
                <a:latin typeface="Arial"/>
              </a:rPr>
              <a:t>  Battery</a:t>
            </a:r>
            <a:endParaRPr b="0" lang="uk-UA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Box 48"/>
          <p:cNvSpPr/>
          <p:nvPr/>
        </p:nvSpPr>
        <p:spPr>
          <a:xfrm>
            <a:off x="7992000" y="5641920"/>
            <a:ext cx="15174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50" strike="noStrike" u="none">
                <a:solidFill>
                  <a:srgbClr val="10232e"/>
                </a:solidFill>
                <a:effectLst/>
                <a:uFillTx/>
                <a:latin typeface="Cascadia Mono"/>
              </a:rPr>
              <a:t>0x68</a:t>
            </a:r>
            <a:r>
              <a:rPr b="0" lang="en-US" sz="1000" strike="noStrike" u="none">
                <a:solidFill>
                  <a:srgbClr val="6c838d"/>
                </a:solidFill>
                <a:effectLst/>
                <a:uFillTx/>
                <a:latin typeface="Arial"/>
              </a:rPr>
              <a:t>  DS3231</a:t>
            </a:r>
            <a:endParaRPr b="0" lang="uk-UA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Box 49"/>
          <p:cNvSpPr/>
          <p:nvPr/>
        </p:nvSpPr>
        <p:spPr>
          <a:xfrm>
            <a:off x="9619560" y="5641920"/>
            <a:ext cx="15174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50" strike="noStrike" u="none">
                <a:solidFill>
                  <a:srgbClr val="10232e"/>
                </a:solidFill>
                <a:effectLst/>
                <a:uFillTx/>
                <a:latin typeface="Cascadia Mono"/>
              </a:rPr>
              <a:t>0x76</a:t>
            </a:r>
            <a:r>
              <a:rPr b="0" lang="en-US" sz="1000" strike="noStrike" u="none">
                <a:solidFill>
                  <a:srgbClr val="6c838d"/>
                </a:solidFill>
                <a:effectLst/>
                <a:uFillTx/>
                <a:latin typeface="Arial"/>
              </a:rPr>
              <a:t>  BME280</a:t>
            </a:r>
            <a:endParaRPr b="0" lang="uk-UA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TextBox 1"/>
          <p:cNvSpPr/>
          <p:nvPr/>
        </p:nvSpPr>
        <p:spPr>
          <a:xfrm>
            <a:off x="594360" y="329040"/>
            <a:ext cx="5303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950" strike="noStrike" u="none">
                <a:solidFill>
                  <a:srgbClr val="20c9a6"/>
                </a:solidFill>
                <a:effectLst/>
                <a:uFillTx/>
                <a:latin typeface="Arial"/>
              </a:rPr>
              <a:t>04 / ПРОШИВКА</a:t>
            </a:r>
            <a:endParaRPr b="0" lang="uk-UA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Box 2"/>
          <p:cNvSpPr/>
          <p:nvPr/>
        </p:nvSpPr>
        <p:spPr>
          <a:xfrm>
            <a:off x="594360" y="658440"/>
            <a:ext cx="109724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f7fafa"/>
                </a:solidFill>
                <a:effectLst/>
                <a:uFillTx/>
                <a:latin typeface="Bahnschrift"/>
              </a:rPr>
              <a:t>Компонентна архітектура ESP-IDF</a:t>
            </a:r>
            <a:endParaRPr b="0" lang="uk-UA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Box 3"/>
          <p:cNvSpPr/>
          <p:nvPr/>
        </p:nvSpPr>
        <p:spPr>
          <a:xfrm>
            <a:off x="612720" y="1225440"/>
            <a:ext cx="10789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250" strike="noStrike" u="none">
                <a:solidFill>
                  <a:srgbClr val="9bb0b8"/>
                </a:solidFill>
                <a:effectLst/>
                <a:uFillTx/>
                <a:latin typeface="Arial"/>
              </a:rPr>
              <a:t>Чіткі межі між application flow, сервісами, драйверами та транспортами.</a:t>
            </a:r>
            <a:endParaRPr b="0" lang="uk-UA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Box 4"/>
          <p:cNvSpPr/>
          <p:nvPr/>
        </p:nvSpPr>
        <p:spPr>
          <a:xfrm>
            <a:off x="603360" y="6537960"/>
            <a:ext cx="53031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850" strike="noStrike" u="none">
                <a:solidFill>
                  <a:srgbClr val="9bb0b8"/>
                </a:solidFill>
                <a:effectLst/>
                <a:uFillTx/>
                <a:latin typeface="Arial"/>
              </a:rPr>
              <a:t>METEOSTATION  /  ФІНАЛЬНИЙ ПРОЄКТ</a:t>
            </a:r>
            <a:endParaRPr b="0" lang="uk-UA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Box 5"/>
          <p:cNvSpPr/>
          <p:nvPr/>
        </p:nvSpPr>
        <p:spPr>
          <a:xfrm>
            <a:off x="11109960" y="6473880"/>
            <a:ext cx="475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1" lang="en-US" sz="1000" strike="noStrike" u="none">
                <a:solidFill>
                  <a:srgbClr val="9bb0b8"/>
                </a:solidFill>
                <a:effectLst/>
                <a:uFillTx/>
                <a:latin typeface="Cascadia Mono"/>
              </a:rPr>
              <a:t>06</a:t>
            </a:r>
            <a:endParaRPr b="0" lang="uk-UA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238" name="Connector 6"/>
          <p:cNvCxnSpPr/>
          <p:nvPr/>
        </p:nvCxnSpPr>
        <p:spPr>
          <a:xfrm>
            <a:off x="594360" y="6391440"/>
            <a:ext cx="11000520" cy="360"/>
          </a:xfrm>
          <a:prstGeom prst="straightConnector1">
            <a:avLst/>
          </a:prstGeom>
          <a:ln w="10160">
            <a:solidFill>
              <a:srgbClr val="28434d"/>
            </a:solidFill>
            <a:round/>
          </a:ln>
        </p:spPr>
      </p:cxnSp>
      <p:sp>
        <p:nvSpPr>
          <p:cNvPr id="239" name="Rounded Rectangle 7"/>
          <p:cNvSpPr/>
          <p:nvPr/>
        </p:nvSpPr>
        <p:spPr>
          <a:xfrm>
            <a:off x="658440" y="1755720"/>
            <a:ext cx="7360560" cy="722160"/>
          </a:xfrm>
          <a:prstGeom prst="roundRect">
            <a:avLst>
              <a:gd name="adj" fmla="val 12000"/>
            </a:avLst>
          </a:prstGeom>
          <a:solidFill>
            <a:srgbClr val="20c9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0" name="TextBox 8"/>
          <p:cNvSpPr/>
          <p:nvPr/>
        </p:nvSpPr>
        <p:spPr>
          <a:xfrm>
            <a:off x="896040" y="1901880"/>
            <a:ext cx="1645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950" strike="noStrike" u="none">
                <a:solidFill>
                  <a:srgbClr val="081b26"/>
                </a:solidFill>
                <a:effectLst/>
                <a:uFillTx/>
                <a:latin typeface="Arial"/>
              </a:rPr>
              <a:t>APPLICATION</a:t>
            </a:r>
            <a:endParaRPr b="0" lang="uk-UA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Box 9"/>
          <p:cNvSpPr/>
          <p:nvPr/>
        </p:nvSpPr>
        <p:spPr>
          <a:xfrm>
            <a:off x="2496240" y="1901880"/>
            <a:ext cx="5266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130" strike="noStrike" u="none">
                <a:solidFill>
                  <a:srgbClr val="081b26"/>
                </a:solidFill>
                <a:effectLst/>
                <a:uFillTx/>
                <a:latin typeface="Cascadia Mono"/>
              </a:rPr>
              <a:t>app_main   •   app   •   app_config   •   app_flow</a:t>
            </a:r>
            <a:endParaRPr b="0" lang="uk-UA" sz="11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Rounded Rectangle 10"/>
          <p:cNvSpPr/>
          <p:nvPr/>
        </p:nvSpPr>
        <p:spPr>
          <a:xfrm>
            <a:off x="658440" y="2660760"/>
            <a:ext cx="7360560" cy="722160"/>
          </a:xfrm>
          <a:prstGeom prst="roundRect">
            <a:avLst>
              <a:gd name="adj" fmla="val 12000"/>
            </a:avLst>
          </a:prstGeom>
          <a:solidFill>
            <a:srgbClr val="0d2633"/>
          </a:solidFill>
          <a:ln w="12700">
            <a:solidFill>
              <a:srgbClr val="28434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3" name="TextBox 11"/>
          <p:cNvSpPr/>
          <p:nvPr/>
        </p:nvSpPr>
        <p:spPr>
          <a:xfrm>
            <a:off x="896040" y="2807280"/>
            <a:ext cx="1645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950" strike="noStrike" u="none">
                <a:solidFill>
                  <a:srgbClr val="20c9a6"/>
                </a:solidFill>
                <a:effectLst/>
                <a:uFillTx/>
                <a:latin typeface="Arial"/>
              </a:rPr>
              <a:t>SERVICES</a:t>
            </a:r>
            <a:endParaRPr b="0" lang="uk-UA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Box 12"/>
          <p:cNvSpPr/>
          <p:nvPr/>
        </p:nvSpPr>
        <p:spPr>
          <a:xfrm>
            <a:off x="2496240" y="2807280"/>
            <a:ext cx="5266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130" strike="noStrike" u="none">
                <a:solidFill>
                  <a:srgbClr val="f7fafa"/>
                </a:solidFill>
                <a:effectLst/>
                <a:uFillTx/>
                <a:latin typeface="Cascadia Mono"/>
              </a:rPr>
              <a:t>sensor_manager   •   lightning_service   •   power_manager</a:t>
            </a:r>
            <a:endParaRPr b="0" lang="uk-UA" sz="11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Rounded Rectangle 13"/>
          <p:cNvSpPr/>
          <p:nvPr/>
        </p:nvSpPr>
        <p:spPr>
          <a:xfrm>
            <a:off x="658440" y="3566160"/>
            <a:ext cx="7360560" cy="722160"/>
          </a:xfrm>
          <a:prstGeom prst="roundRect">
            <a:avLst>
              <a:gd name="adj" fmla="val 12000"/>
            </a:avLst>
          </a:prstGeom>
          <a:solidFill>
            <a:srgbClr val="0d2633"/>
          </a:solidFill>
          <a:ln w="12700">
            <a:solidFill>
              <a:srgbClr val="28434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6" name="TextBox 14"/>
          <p:cNvSpPr/>
          <p:nvPr/>
        </p:nvSpPr>
        <p:spPr>
          <a:xfrm>
            <a:off x="896040" y="3712320"/>
            <a:ext cx="1645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950" strike="noStrike" u="none">
                <a:solidFill>
                  <a:srgbClr val="20c9a6"/>
                </a:solidFill>
                <a:effectLst/>
                <a:uFillTx/>
                <a:latin typeface="Arial"/>
              </a:rPr>
              <a:t>DATA &amp; CONNECTIVITY</a:t>
            </a:r>
            <a:endParaRPr b="0" lang="uk-UA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Box 15"/>
          <p:cNvSpPr/>
          <p:nvPr/>
        </p:nvSpPr>
        <p:spPr>
          <a:xfrm>
            <a:off x="2496240" y="3712320"/>
            <a:ext cx="5266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130" strike="noStrike" u="none">
                <a:solidFill>
                  <a:srgbClr val="f7fafa"/>
                </a:solidFill>
                <a:effectLst/>
                <a:uFillTx/>
                <a:latin typeface="Cascadia Mono"/>
              </a:rPr>
              <a:t>telemetry/codecs  •  transport factory  •  MQTT  •  LoRa</a:t>
            </a:r>
            <a:endParaRPr b="0" lang="uk-UA" sz="11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Rounded Rectangle 16"/>
          <p:cNvSpPr/>
          <p:nvPr/>
        </p:nvSpPr>
        <p:spPr>
          <a:xfrm>
            <a:off x="658440" y="4471560"/>
            <a:ext cx="7360560" cy="722160"/>
          </a:xfrm>
          <a:prstGeom prst="roundRect">
            <a:avLst>
              <a:gd name="adj" fmla="val 12000"/>
            </a:avLst>
          </a:prstGeom>
          <a:solidFill>
            <a:srgbClr val="0d2633"/>
          </a:solidFill>
          <a:ln w="12700">
            <a:solidFill>
              <a:srgbClr val="28434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9" name="TextBox 17"/>
          <p:cNvSpPr/>
          <p:nvPr/>
        </p:nvSpPr>
        <p:spPr>
          <a:xfrm>
            <a:off x="896040" y="4617720"/>
            <a:ext cx="1645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950" strike="noStrike" u="none">
                <a:solidFill>
                  <a:srgbClr val="20c9a6"/>
                </a:solidFill>
                <a:effectLst/>
                <a:uFillTx/>
                <a:latin typeface="Arial"/>
              </a:rPr>
              <a:t>DRIVERS &amp; BOARD</a:t>
            </a:r>
            <a:endParaRPr b="0" lang="uk-UA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Box 18"/>
          <p:cNvSpPr/>
          <p:nvPr/>
        </p:nvSpPr>
        <p:spPr>
          <a:xfrm>
            <a:off x="2496240" y="4617720"/>
            <a:ext cx="5266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130" strike="noStrike" u="none">
                <a:solidFill>
                  <a:srgbClr val="f7fafa"/>
                </a:solidFill>
                <a:effectLst/>
                <a:uFillTx/>
                <a:latin typeface="Cascadia Mono"/>
              </a:rPr>
              <a:t>BME280   AS3935   INA226   DS3231   PCA9536   SX1262   board</a:t>
            </a:r>
            <a:endParaRPr b="0" lang="uk-UA" sz="11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Rounded Rectangle 19"/>
          <p:cNvSpPr/>
          <p:nvPr/>
        </p:nvSpPr>
        <p:spPr>
          <a:xfrm>
            <a:off x="658440" y="5376600"/>
            <a:ext cx="7360560" cy="493560"/>
          </a:xfrm>
          <a:prstGeom prst="roundRect">
            <a:avLst>
              <a:gd name="adj" fmla="val 12000"/>
            </a:avLst>
          </a:prstGeom>
          <a:solidFill>
            <a:srgbClr val="0d2633"/>
          </a:solidFill>
          <a:ln w="12700">
            <a:solidFill>
              <a:srgbClr val="28434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2" name="TextBox 20"/>
          <p:cNvSpPr/>
          <p:nvPr/>
        </p:nvSpPr>
        <p:spPr>
          <a:xfrm>
            <a:off x="896040" y="5523120"/>
            <a:ext cx="688500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100" strike="noStrike" u="none">
                <a:solidFill>
                  <a:srgbClr val="9bb0b8"/>
                </a:solidFill>
                <a:effectLst/>
                <a:uFillTx/>
                <a:latin typeface="Cascadia Mono"/>
              </a:rPr>
              <a:t>ESP-IDF 6.0.1    •    FreeRTOS    •    C11+    •    NVS / BLE / Wi-Fi</a:t>
            </a:r>
            <a:endParaRPr b="0" lang="uk-UA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Rounded Rectangle 21"/>
          <p:cNvSpPr/>
          <p:nvPr/>
        </p:nvSpPr>
        <p:spPr>
          <a:xfrm>
            <a:off x="8302680" y="1755720"/>
            <a:ext cx="3236760" cy="411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4" name="TextBox 22"/>
          <p:cNvSpPr/>
          <p:nvPr/>
        </p:nvSpPr>
        <p:spPr>
          <a:xfrm>
            <a:off x="8595360" y="2039040"/>
            <a:ext cx="26697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800" strike="noStrike" u="none">
                <a:solidFill>
                  <a:srgbClr val="10232e"/>
                </a:solidFill>
                <a:effectLst/>
                <a:uFillTx/>
                <a:latin typeface="Bahnschrift"/>
              </a:rPr>
              <a:t>Ключові рішення</a:t>
            </a:r>
            <a:endParaRPr b="0" lang="uk-UA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Box 23"/>
          <p:cNvSpPr/>
          <p:nvPr/>
        </p:nvSpPr>
        <p:spPr>
          <a:xfrm>
            <a:off x="8595360" y="2651760"/>
            <a:ext cx="2605680" cy="242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  <a:spcAft>
                <a:spcPts val="1100"/>
              </a:spcAft>
            </a:pPr>
            <a:r>
              <a:rPr b="1" lang="en-US" sz="1200" strike="noStrike" u="none">
                <a:solidFill>
                  <a:srgbClr val="087f6c"/>
                </a:solidFill>
                <a:effectLst/>
                <a:uFillTx/>
                <a:latin typeface="Arial"/>
              </a:rPr>
              <a:t>•  </a:t>
            </a:r>
            <a:r>
              <a:rPr b="0" lang="en-US" sz="1200" strike="noStrike" u="none">
                <a:solidFill>
                  <a:srgbClr val="28424e"/>
                </a:solidFill>
                <a:effectLst/>
                <a:uFillTx/>
                <a:latin typeface="Arial"/>
              </a:rPr>
              <a:t>board — єдине джерело GPIO та I²C-адрес</a:t>
            </a:r>
            <a:endParaRPr b="0" lang="uk-UA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1100"/>
              </a:spcAft>
            </a:pPr>
            <a:r>
              <a:rPr b="1" lang="en-US" sz="1200" strike="noStrike" u="none">
                <a:solidFill>
                  <a:srgbClr val="087f6c"/>
                </a:solidFill>
                <a:effectLst/>
                <a:uFillTx/>
                <a:latin typeface="Arial"/>
              </a:rPr>
              <a:t>•  </a:t>
            </a:r>
            <a:r>
              <a:rPr b="0" lang="en-US" sz="1200" strike="noStrike" u="none">
                <a:solidFill>
                  <a:srgbClr val="28424e"/>
                </a:solidFill>
                <a:effectLst/>
                <a:uFillTx/>
                <a:latin typeface="Arial"/>
              </a:rPr>
              <a:t>codecs відокремлені від transports</a:t>
            </a:r>
            <a:endParaRPr b="0" lang="uk-UA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1100"/>
              </a:spcAft>
            </a:pPr>
            <a:r>
              <a:rPr b="1" lang="en-US" sz="1200" strike="noStrike" u="none">
                <a:solidFill>
                  <a:srgbClr val="087f6c"/>
                </a:solidFill>
                <a:effectLst/>
                <a:uFillTx/>
                <a:latin typeface="Arial"/>
              </a:rPr>
              <a:t>•  </a:t>
            </a:r>
            <a:r>
              <a:rPr b="0" lang="en-US" sz="1200" strike="noStrike" u="none">
                <a:solidFill>
                  <a:srgbClr val="28424e"/>
                </a:solidFill>
                <a:effectLst/>
                <a:uFillTx/>
                <a:latin typeface="Arial"/>
              </a:rPr>
              <a:t>один спільний I²C master bus</a:t>
            </a:r>
            <a:endParaRPr b="0" lang="uk-UA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1100"/>
              </a:spcAft>
            </a:pPr>
            <a:r>
              <a:rPr b="1" lang="en-US" sz="1200" strike="noStrike" u="none">
                <a:solidFill>
                  <a:srgbClr val="087f6c"/>
                </a:solidFill>
                <a:effectLst/>
                <a:uFillTx/>
                <a:latin typeface="Arial"/>
              </a:rPr>
              <a:t>•  </a:t>
            </a:r>
            <a:r>
              <a:rPr b="0" lang="en-US" sz="1200" strike="noStrike" u="none">
                <a:solidFill>
                  <a:srgbClr val="28424e"/>
                </a:solidFill>
                <a:effectLst/>
                <a:uFillTx/>
                <a:latin typeface="Arial"/>
              </a:rPr>
              <a:t>bounded buffers і finite timeouts</a:t>
            </a:r>
            <a:endParaRPr b="0" lang="uk-UA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1100"/>
              </a:spcAft>
            </a:pPr>
            <a:r>
              <a:rPr b="1" lang="en-US" sz="1200" strike="noStrike" u="none">
                <a:solidFill>
                  <a:srgbClr val="087f6c"/>
                </a:solidFill>
                <a:effectLst/>
                <a:uFillTx/>
                <a:latin typeface="Arial"/>
              </a:rPr>
              <a:t>•  </a:t>
            </a:r>
            <a:r>
              <a:rPr b="0" lang="en-US" sz="1200" strike="noStrike" u="none">
                <a:solidFill>
                  <a:srgbClr val="28424e"/>
                </a:solidFill>
                <a:effectLst/>
                <a:uFillTx/>
                <a:latin typeface="Arial"/>
              </a:rPr>
              <a:t>мінімальна динамічна алокація після init</a:t>
            </a:r>
            <a:endParaRPr b="0" lang="uk-UA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Rounded Rectangle 24"/>
          <p:cNvSpPr/>
          <p:nvPr/>
        </p:nvSpPr>
        <p:spPr>
          <a:xfrm>
            <a:off x="8586360" y="5276160"/>
            <a:ext cx="2660400" cy="292320"/>
          </a:xfrm>
          <a:prstGeom prst="roundRect">
            <a:avLst>
              <a:gd name="adj" fmla="val 12000"/>
            </a:avLst>
          </a:prstGeom>
          <a:solidFill>
            <a:srgbClr val="ddf6e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7" name="TextBox 25"/>
          <p:cNvSpPr/>
          <p:nvPr/>
        </p:nvSpPr>
        <p:spPr>
          <a:xfrm>
            <a:off x="8586360" y="5280480"/>
            <a:ext cx="266040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850" strike="noStrike" u="none">
                <a:solidFill>
                  <a:srgbClr val="087f6c"/>
                </a:solidFill>
                <a:effectLst/>
                <a:uFillTx/>
                <a:latin typeface="Arial"/>
              </a:rPr>
              <a:t>PURE C: app_flow + telemetry, без HAL</a:t>
            </a:r>
            <a:endParaRPr b="0" lang="uk-UA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TextBox 1"/>
          <p:cNvSpPr/>
          <p:nvPr/>
        </p:nvSpPr>
        <p:spPr>
          <a:xfrm>
            <a:off x="594360" y="329040"/>
            <a:ext cx="5303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950" strike="noStrike" u="none">
                <a:solidFill>
                  <a:srgbClr val="087f6c"/>
                </a:solidFill>
                <a:effectLst/>
                <a:uFillTx/>
                <a:latin typeface="Arial"/>
              </a:rPr>
              <a:t>05 / АРХІТЕКТУРНІ РІШЕННЯ</a:t>
            </a:r>
            <a:endParaRPr b="0" lang="uk-UA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Box 2"/>
          <p:cNvSpPr/>
          <p:nvPr/>
        </p:nvSpPr>
        <p:spPr>
          <a:xfrm>
            <a:off x="594360" y="658440"/>
            <a:ext cx="109724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0232e"/>
                </a:solidFill>
                <a:effectLst/>
                <a:uFillTx/>
                <a:latin typeface="Bahnschrift"/>
              </a:rPr>
              <a:t>Concurrency: мінімум задач, явна синхронізація</a:t>
            </a:r>
            <a:endParaRPr b="0" lang="uk-U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Box 3"/>
          <p:cNvSpPr/>
          <p:nvPr/>
        </p:nvSpPr>
        <p:spPr>
          <a:xfrm>
            <a:off x="612720" y="1225440"/>
            <a:ext cx="10789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250" strike="noStrike" u="none">
                <a:solidFill>
                  <a:srgbClr val="6c838d"/>
                </a:solidFill>
                <a:effectLst/>
                <a:uFillTx/>
                <a:latin typeface="Arial"/>
              </a:rPr>
              <a:t>Асинхронність ізольована на межах IRQ і мережі; application flow лишається детермінованим.</a:t>
            </a:r>
            <a:endParaRPr b="0" lang="uk-UA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Box 4"/>
          <p:cNvSpPr/>
          <p:nvPr/>
        </p:nvSpPr>
        <p:spPr>
          <a:xfrm>
            <a:off x="603360" y="6537960"/>
            <a:ext cx="53031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850" strike="noStrike" u="none">
                <a:solidFill>
                  <a:srgbClr val="6c838d"/>
                </a:solidFill>
                <a:effectLst/>
                <a:uFillTx/>
                <a:latin typeface="Arial"/>
              </a:rPr>
              <a:t>METEOSTATION  /  ФІНАЛЬНИЙ ПРОЄКТ</a:t>
            </a:r>
            <a:endParaRPr b="0" lang="uk-UA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Box 5"/>
          <p:cNvSpPr/>
          <p:nvPr/>
        </p:nvSpPr>
        <p:spPr>
          <a:xfrm>
            <a:off x="11109960" y="6473880"/>
            <a:ext cx="475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1" lang="en-US" sz="1000" strike="noStrike" u="none">
                <a:solidFill>
                  <a:srgbClr val="6c838d"/>
                </a:solidFill>
                <a:effectLst/>
                <a:uFillTx/>
                <a:latin typeface="Cascadia Mono"/>
              </a:rPr>
              <a:t>07</a:t>
            </a:r>
            <a:endParaRPr b="0" lang="uk-UA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63" name="Connector 6"/>
          <p:cNvCxnSpPr/>
          <p:nvPr/>
        </p:nvCxnSpPr>
        <p:spPr>
          <a:xfrm>
            <a:off x="594360" y="6391440"/>
            <a:ext cx="11000520" cy="360"/>
          </a:xfrm>
          <a:prstGeom prst="straightConnector1">
            <a:avLst/>
          </a:prstGeom>
          <a:ln w="10160">
            <a:solidFill>
              <a:srgbClr val="d8e3e2"/>
            </a:solidFill>
            <a:round/>
          </a:ln>
        </p:spPr>
      </p:cxnSp>
      <p:sp>
        <p:nvSpPr>
          <p:cNvPr id="264" name="Rounded Rectangle 7"/>
          <p:cNvSpPr/>
          <p:nvPr/>
        </p:nvSpPr>
        <p:spPr>
          <a:xfrm>
            <a:off x="612720" y="1783080"/>
            <a:ext cx="7131960" cy="959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5" name="Rounded Rectangle 8"/>
          <p:cNvSpPr/>
          <p:nvPr/>
        </p:nvSpPr>
        <p:spPr>
          <a:xfrm>
            <a:off x="831960" y="1947600"/>
            <a:ext cx="987120" cy="292320"/>
          </a:xfrm>
          <a:prstGeom prst="roundRect">
            <a:avLst>
              <a:gd name="adj" fmla="val 12000"/>
            </a:avLst>
          </a:prstGeom>
          <a:solidFill>
            <a:srgbClr val="f0b95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6" name="TextBox 9"/>
          <p:cNvSpPr/>
          <p:nvPr/>
        </p:nvSpPr>
        <p:spPr>
          <a:xfrm>
            <a:off x="831960" y="1952280"/>
            <a:ext cx="9871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900" strike="noStrike" u="none">
                <a:solidFill>
                  <a:srgbClr val="081b26"/>
                </a:solidFill>
                <a:effectLst/>
                <a:uFillTx/>
                <a:latin typeface="Arial"/>
              </a:rPr>
              <a:t>GPIO IRQ</a:t>
            </a:r>
            <a:endParaRPr b="0" lang="uk-UA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Box 10"/>
          <p:cNvSpPr/>
          <p:nvPr/>
        </p:nvSpPr>
        <p:spPr>
          <a:xfrm>
            <a:off x="1993320" y="1956960"/>
            <a:ext cx="205704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20" strike="noStrike" u="none">
                <a:solidFill>
                  <a:srgbClr val="28424e"/>
                </a:solidFill>
                <a:effectLst/>
                <a:uFillTx/>
                <a:latin typeface="Arial"/>
              </a:rPr>
              <a:t>AS3935 → WAKE_IRQ</a:t>
            </a:r>
            <a:endParaRPr b="0" lang="uk-UA" sz="12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68" name="Connector 11"/>
          <p:cNvCxnSpPr/>
          <p:nvPr/>
        </p:nvCxnSpPr>
        <p:spPr>
          <a:xfrm>
            <a:off x="4059720" y="2258280"/>
            <a:ext cx="329760" cy="360"/>
          </a:xfrm>
          <a:prstGeom prst="straightConnector1">
            <a:avLst/>
          </a:prstGeom>
          <a:ln w="16510">
            <a:solidFill>
              <a:srgbClr val="f0b95b"/>
            </a:solidFill>
            <a:round/>
          </a:ln>
        </p:spPr>
      </p:cxnSp>
      <p:sp>
        <p:nvSpPr>
          <p:cNvPr id="269" name="TextBox 12"/>
          <p:cNvSpPr/>
          <p:nvPr/>
        </p:nvSpPr>
        <p:spPr>
          <a:xfrm>
            <a:off x="4498920" y="1956960"/>
            <a:ext cx="21484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120" strike="noStrike" u="none">
                <a:solidFill>
                  <a:srgbClr val="10232e"/>
                </a:solidFill>
                <a:effectLst/>
                <a:uFillTx/>
                <a:latin typeface="Cascadia Mono"/>
              </a:rPr>
              <a:t>vTaskNotifyGiveFromISR</a:t>
            </a:r>
            <a:endParaRPr b="0" lang="uk-UA" sz="1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70" name="Connector 13"/>
          <p:cNvCxnSpPr/>
          <p:nvPr/>
        </p:nvCxnSpPr>
        <p:spPr>
          <a:xfrm>
            <a:off x="6684120" y="2258280"/>
            <a:ext cx="274680" cy="360"/>
          </a:xfrm>
          <a:prstGeom prst="straightConnector1">
            <a:avLst/>
          </a:prstGeom>
          <a:ln w="16510">
            <a:solidFill>
              <a:srgbClr val="f0b95b"/>
            </a:solidFill>
            <a:round/>
          </a:ln>
        </p:spPr>
      </p:cxnSp>
      <p:sp>
        <p:nvSpPr>
          <p:cNvPr id="271" name="TextBox 14"/>
          <p:cNvSpPr/>
          <p:nvPr/>
        </p:nvSpPr>
        <p:spPr>
          <a:xfrm>
            <a:off x="7004160" y="1956960"/>
            <a:ext cx="67644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950" strike="noStrike" u="none">
                <a:solidFill>
                  <a:srgbClr val="087f6c"/>
                </a:solidFill>
                <a:effectLst/>
                <a:uFillTx/>
                <a:latin typeface="Arial"/>
              </a:rPr>
              <a:t>main task</a:t>
            </a:r>
            <a:endParaRPr b="0" lang="uk-UA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Box 15"/>
          <p:cNvSpPr/>
          <p:nvPr/>
        </p:nvSpPr>
        <p:spPr>
          <a:xfrm>
            <a:off x="7004160" y="2286000"/>
            <a:ext cx="6764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0" lang="en-US" sz="720" strike="noStrike" u="none">
                <a:solidFill>
                  <a:srgbClr val="6c838d"/>
                </a:solidFill>
                <a:effectLst/>
                <a:uFillTx/>
                <a:latin typeface="Cascadia Mono"/>
              </a:rPr>
              <a:t>task context</a:t>
            </a:r>
            <a:endParaRPr b="0" lang="uk-UA" sz="7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Rounded Rectangle 16"/>
          <p:cNvSpPr/>
          <p:nvPr/>
        </p:nvSpPr>
        <p:spPr>
          <a:xfrm>
            <a:off x="612720" y="2953440"/>
            <a:ext cx="7131960" cy="959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4" name="Rounded Rectangle 17"/>
          <p:cNvSpPr/>
          <p:nvPr/>
        </p:nvSpPr>
        <p:spPr>
          <a:xfrm>
            <a:off x="831960" y="3117960"/>
            <a:ext cx="987120" cy="292320"/>
          </a:xfrm>
          <a:prstGeom prst="roundRect">
            <a:avLst>
              <a:gd name="adj" fmla="val 12000"/>
            </a:avLst>
          </a:prstGeom>
          <a:solidFill>
            <a:srgbClr val="55be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5" name="TextBox 18"/>
          <p:cNvSpPr/>
          <p:nvPr/>
        </p:nvSpPr>
        <p:spPr>
          <a:xfrm>
            <a:off x="831960" y="3122640"/>
            <a:ext cx="9871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900" strike="noStrike" u="none">
                <a:solidFill>
                  <a:srgbClr val="081b26"/>
                </a:solidFill>
                <a:effectLst/>
                <a:uFillTx/>
                <a:latin typeface="Arial"/>
              </a:rPr>
              <a:t>NETWORK</a:t>
            </a:r>
            <a:endParaRPr b="0" lang="uk-UA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Box 19"/>
          <p:cNvSpPr/>
          <p:nvPr/>
        </p:nvSpPr>
        <p:spPr>
          <a:xfrm>
            <a:off x="1993320" y="3127320"/>
            <a:ext cx="205704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20" strike="noStrike" u="none">
                <a:solidFill>
                  <a:srgbClr val="28424e"/>
                </a:solidFill>
                <a:effectLst/>
                <a:uFillTx/>
                <a:latin typeface="Arial"/>
              </a:rPr>
              <a:t>Wi-Fi / MQTT callback</a:t>
            </a:r>
            <a:endParaRPr b="0" lang="uk-UA" sz="12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77" name="Connector 20"/>
          <p:cNvCxnSpPr/>
          <p:nvPr/>
        </p:nvCxnSpPr>
        <p:spPr>
          <a:xfrm>
            <a:off x="4059720" y="3429000"/>
            <a:ext cx="329760" cy="360"/>
          </a:xfrm>
          <a:prstGeom prst="straightConnector1">
            <a:avLst/>
          </a:prstGeom>
          <a:ln w="16510">
            <a:solidFill>
              <a:srgbClr val="55bef0"/>
            </a:solidFill>
            <a:round/>
          </a:ln>
        </p:spPr>
      </p:cxnSp>
      <p:sp>
        <p:nvSpPr>
          <p:cNvPr id="278" name="TextBox 21"/>
          <p:cNvSpPr/>
          <p:nvPr/>
        </p:nvSpPr>
        <p:spPr>
          <a:xfrm>
            <a:off x="4498920" y="3127320"/>
            <a:ext cx="21484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120" strike="noStrike" u="none">
                <a:solidFill>
                  <a:srgbClr val="10232e"/>
                </a:solidFill>
                <a:effectLst/>
                <a:uFillTx/>
                <a:latin typeface="Cascadia Mono"/>
              </a:rPr>
              <a:t>xEventGroupSetBits</a:t>
            </a:r>
            <a:endParaRPr b="0" lang="uk-UA" sz="1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79" name="Connector 22"/>
          <p:cNvCxnSpPr/>
          <p:nvPr/>
        </p:nvCxnSpPr>
        <p:spPr>
          <a:xfrm>
            <a:off x="6684120" y="3429000"/>
            <a:ext cx="274680" cy="360"/>
          </a:xfrm>
          <a:prstGeom prst="straightConnector1">
            <a:avLst/>
          </a:prstGeom>
          <a:ln w="16510">
            <a:solidFill>
              <a:srgbClr val="55bef0"/>
            </a:solidFill>
            <a:round/>
          </a:ln>
        </p:spPr>
      </p:cxnSp>
      <p:sp>
        <p:nvSpPr>
          <p:cNvPr id="280" name="TextBox 23"/>
          <p:cNvSpPr/>
          <p:nvPr/>
        </p:nvSpPr>
        <p:spPr>
          <a:xfrm>
            <a:off x="7004160" y="3127320"/>
            <a:ext cx="67644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950" strike="noStrike" u="none">
                <a:solidFill>
                  <a:srgbClr val="087f6c"/>
                </a:solidFill>
                <a:effectLst/>
                <a:uFillTx/>
                <a:latin typeface="Arial"/>
              </a:rPr>
              <a:t>sync wait</a:t>
            </a:r>
            <a:endParaRPr b="0" lang="uk-UA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Box 24"/>
          <p:cNvSpPr/>
          <p:nvPr/>
        </p:nvSpPr>
        <p:spPr>
          <a:xfrm>
            <a:off x="7004160" y="3456360"/>
            <a:ext cx="6764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0" lang="en-US" sz="720" strike="noStrike" u="none">
                <a:solidFill>
                  <a:srgbClr val="6c838d"/>
                </a:solidFill>
                <a:effectLst/>
                <a:uFillTx/>
                <a:latin typeface="Cascadia Mono"/>
              </a:rPr>
              <a:t>task context</a:t>
            </a:r>
            <a:endParaRPr b="0" lang="uk-UA" sz="7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Rounded Rectangle 25"/>
          <p:cNvSpPr/>
          <p:nvPr/>
        </p:nvSpPr>
        <p:spPr>
          <a:xfrm>
            <a:off x="612720" y="4123800"/>
            <a:ext cx="7131960" cy="959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3" name="Rounded Rectangle 26"/>
          <p:cNvSpPr/>
          <p:nvPr/>
        </p:nvSpPr>
        <p:spPr>
          <a:xfrm>
            <a:off x="831960" y="4288680"/>
            <a:ext cx="987120" cy="292320"/>
          </a:xfrm>
          <a:prstGeom prst="roundRect">
            <a:avLst>
              <a:gd name="adj" fmla="val 12000"/>
            </a:avLst>
          </a:prstGeom>
          <a:solidFill>
            <a:srgbClr val="20c9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4" name="TextBox 27"/>
          <p:cNvSpPr/>
          <p:nvPr/>
        </p:nvSpPr>
        <p:spPr>
          <a:xfrm>
            <a:off x="831960" y="4293000"/>
            <a:ext cx="9871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900" strike="noStrike" u="none">
                <a:solidFill>
                  <a:srgbClr val="081b26"/>
                </a:solidFill>
                <a:effectLst/>
                <a:uFillTx/>
                <a:latin typeface="Arial"/>
              </a:rPr>
              <a:t>RADIO IRQ</a:t>
            </a:r>
            <a:endParaRPr b="0" lang="uk-UA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Box 28"/>
          <p:cNvSpPr/>
          <p:nvPr/>
        </p:nvSpPr>
        <p:spPr>
          <a:xfrm>
            <a:off x="1993320" y="4297680"/>
            <a:ext cx="205704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20" strike="noStrike" u="none">
                <a:solidFill>
                  <a:srgbClr val="28424e"/>
                </a:solidFill>
                <a:effectLst/>
                <a:uFillTx/>
                <a:latin typeface="Arial"/>
              </a:rPr>
              <a:t>SX1262 DIO1</a:t>
            </a:r>
            <a:endParaRPr b="0" lang="uk-UA" sz="12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86" name="Connector 29"/>
          <p:cNvCxnSpPr/>
          <p:nvPr/>
        </p:nvCxnSpPr>
        <p:spPr>
          <a:xfrm>
            <a:off x="4059720" y="4599360"/>
            <a:ext cx="329760" cy="360"/>
          </a:xfrm>
          <a:prstGeom prst="straightConnector1">
            <a:avLst/>
          </a:prstGeom>
          <a:ln w="16510">
            <a:solidFill>
              <a:srgbClr val="20c9a6"/>
            </a:solidFill>
            <a:round/>
          </a:ln>
        </p:spPr>
      </p:cxnSp>
      <p:sp>
        <p:nvSpPr>
          <p:cNvPr id="287" name="TextBox 30"/>
          <p:cNvSpPr/>
          <p:nvPr/>
        </p:nvSpPr>
        <p:spPr>
          <a:xfrm>
            <a:off x="4498920" y="4297680"/>
            <a:ext cx="21484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120" strike="noStrike" u="none">
                <a:solidFill>
                  <a:srgbClr val="10232e"/>
                </a:solidFill>
                <a:effectLst/>
                <a:uFillTx/>
                <a:latin typeface="Cascadia Mono"/>
              </a:rPr>
              <a:t>binary semaphore</a:t>
            </a:r>
            <a:endParaRPr b="0" lang="uk-UA" sz="1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88" name="Connector 31"/>
          <p:cNvCxnSpPr/>
          <p:nvPr/>
        </p:nvCxnSpPr>
        <p:spPr>
          <a:xfrm>
            <a:off x="6684120" y="4599360"/>
            <a:ext cx="274680" cy="360"/>
          </a:xfrm>
          <a:prstGeom prst="straightConnector1">
            <a:avLst/>
          </a:prstGeom>
          <a:ln w="16510">
            <a:solidFill>
              <a:srgbClr val="20c9a6"/>
            </a:solidFill>
            <a:round/>
          </a:ln>
        </p:spPr>
      </p:cxnSp>
      <p:sp>
        <p:nvSpPr>
          <p:cNvPr id="289" name="TextBox 32"/>
          <p:cNvSpPr/>
          <p:nvPr/>
        </p:nvSpPr>
        <p:spPr>
          <a:xfrm>
            <a:off x="7004160" y="4297680"/>
            <a:ext cx="67644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950" strike="noStrike" u="none">
                <a:solidFill>
                  <a:srgbClr val="087f6c"/>
                </a:solidFill>
                <a:effectLst/>
                <a:uFillTx/>
                <a:latin typeface="Arial"/>
              </a:rPr>
              <a:t>timed TX</a:t>
            </a:r>
            <a:endParaRPr b="0" lang="uk-UA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Box 33"/>
          <p:cNvSpPr/>
          <p:nvPr/>
        </p:nvSpPr>
        <p:spPr>
          <a:xfrm>
            <a:off x="7004160" y="4626720"/>
            <a:ext cx="6764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0" lang="en-US" sz="720" strike="noStrike" u="none">
                <a:solidFill>
                  <a:srgbClr val="6c838d"/>
                </a:solidFill>
                <a:effectLst/>
                <a:uFillTx/>
                <a:latin typeface="Cascadia Mono"/>
              </a:rPr>
              <a:t>task context</a:t>
            </a:r>
            <a:endParaRPr b="0" lang="uk-UA" sz="7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Rounded Rectangle 34"/>
          <p:cNvSpPr/>
          <p:nvPr/>
        </p:nvSpPr>
        <p:spPr>
          <a:xfrm>
            <a:off x="7973640" y="1783080"/>
            <a:ext cx="3593160" cy="4214880"/>
          </a:xfrm>
          <a:prstGeom prst="roundRect">
            <a:avLst>
              <a:gd name="adj" fmla="val 12000"/>
            </a:avLst>
          </a:prstGeom>
          <a:solidFill>
            <a:srgbClr val="081b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2" name="Rounded Rectangle 35"/>
          <p:cNvSpPr/>
          <p:nvPr/>
        </p:nvSpPr>
        <p:spPr>
          <a:xfrm>
            <a:off x="8256960" y="2048400"/>
            <a:ext cx="1444320" cy="292320"/>
          </a:xfrm>
          <a:prstGeom prst="roundRect">
            <a:avLst>
              <a:gd name="adj" fmla="val 12000"/>
            </a:avLst>
          </a:prstGeom>
          <a:solidFill>
            <a:srgbClr val="20c9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3" name="TextBox 36"/>
          <p:cNvSpPr/>
          <p:nvPr/>
        </p:nvSpPr>
        <p:spPr>
          <a:xfrm>
            <a:off x="8256960" y="2052720"/>
            <a:ext cx="14443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900" strike="noStrike" u="none">
                <a:solidFill>
                  <a:srgbClr val="081b26"/>
                </a:solidFill>
                <a:effectLst/>
                <a:uFillTx/>
                <a:latin typeface="Arial"/>
              </a:rPr>
              <a:t>ЧОМУ НЕ xQueue?</a:t>
            </a:r>
            <a:endParaRPr b="0" lang="uk-UA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Box 37"/>
          <p:cNvSpPr/>
          <p:nvPr/>
        </p:nvSpPr>
        <p:spPr>
          <a:xfrm>
            <a:off x="8256960" y="2578680"/>
            <a:ext cx="299880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b="1" lang="en-US" sz="1800" strike="noStrike" u="none">
                <a:solidFill>
                  <a:srgbClr val="f7fafa"/>
                </a:solidFill>
                <a:effectLst/>
                <a:uFillTx/>
                <a:latin typeface="Bahnschrift"/>
              </a:rPr>
              <a:t>Тому що IRQ —</a:t>
            </a:r>
            <a:endParaRPr b="0" lang="uk-U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</a:pPr>
            <a:r>
              <a:rPr b="1" lang="en-US" sz="1800" strike="noStrike" u="none">
                <a:solidFill>
                  <a:srgbClr val="f7fafa"/>
                </a:solidFill>
                <a:effectLst/>
                <a:uFillTx/>
                <a:latin typeface="Bahnschrift"/>
              </a:rPr>
              <a:t>це сигнал, а не дані</a:t>
            </a:r>
            <a:endParaRPr b="0" lang="uk-U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Box 38"/>
          <p:cNvSpPr/>
          <p:nvPr/>
        </p:nvSpPr>
        <p:spPr>
          <a:xfrm>
            <a:off x="8256960" y="3456360"/>
            <a:ext cx="2871000" cy="190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  <a:spcAft>
                <a:spcPts val="901"/>
              </a:spcAft>
            </a:pPr>
            <a:r>
              <a:rPr b="1" lang="en-US" sz="1150" strike="noStrike" u="none">
                <a:solidFill>
                  <a:srgbClr val="20c9a6"/>
                </a:solidFill>
                <a:effectLst/>
                <a:uFillTx/>
                <a:latin typeface="Arial"/>
              </a:rPr>
              <a:t>•  </a:t>
            </a:r>
            <a:r>
              <a:rPr b="0" lang="en-US" sz="1150" strike="noStrike" u="none">
                <a:solidFill>
                  <a:srgbClr val="9bb0b8"/>
                </a:solidFill>
                <a:effectLst/>
                <a:uFillTx/>
                <a:latin typeface="Arial"/>
              </a:rPr>
              <a:t>повідомлення не містить payload</a:t>
            </a:r>
            <a:endParaRPr b="0" lang="uk-UA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901"/>
              </a:spcAft>
            </a:pPr>
            <a:r>
              <a:rPr b="1" lang="en-US" sz="1150" strike="noStrike" u="none">
                <a:solidFill>
                  <a:srgbClr val="20c9a6"/>
                </a:solidFill>
                <a:effectLst/>
                <a:uFillTx/>
                <a:latin typeface="Arial"/>
              </a:rPr>
              <a:t>•  </a:t>
            </a:r>
            <a:r>
              <a:rPr b="0" lang="en-US" sz="1150" strike="noStrike" u="none">
                <a:solidFill>
                  <a:srgbClr val="9bb0b8"/>
                </a:solidFill>
                <a:effectLst/>
                <a:uFillTx/>
                <a:latin typeface="Arial"/>
              </a:rPr>
              <a:t>AS3935 registers читаються пізніше через I²C</a:t>
            </a:r>
            <a:endParaRPr b="0" lang="uk-UA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901"/>
              </a:spcAft>
            </a:pPr>
            <a:r>
              <a:rPr b="1" lang="en-US" sz="1150" strike="noStrike" u="none">
                <a:solidFill>
                  <a:srgbClr val="20c9a6"/>
                </a:solidFill>
                <a:effectLst/>
                <a:uFillTx/>
                <a:latin typeface="Arial"/>
              </a:rPr>
              <a:t>•  </a:t>
            </a:r>
            <a:r>
              <a:rPr b="0" lang="en-US" sz="1150" strike="noStrike" u="none">
                <a:solidFill>
                  <a:srgbClr val="9bb0b8"/>
                </a:solidFill>
                <a:effectLst/>
                <a:uFillTx/>
                <a:latin typeface="Arial"/>
              </a:rPr>
              <a:t>один producer і один main-task consumer</a:t>
            </a:r>
            <a:endParaRPr b="0" lang="uk-UA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901"/>
              </a:spcAft>
            </a:pPr>
            <a:r>
              <a:rPr b="1" lang="en-US" sz="1150" strike="noStrike" u="none">
                <a:solidFill>
                  <a:srgbClr val="20c9a6"/>
                </a:solidFill>
                <a:effectLst/>
                <a:uFillTx/>
                <a:latin typeface="Arial"/>
              </a:rPr>
              <a:t>•  </a:t>
            </a:r>
            <a:r>
              <a:rPr b="0" lang="en-US" sz="1150" strike="noStrike" u="none">
                <a:solidFill>
                  <a:srgbClr val="9bb0b8"/>
                </a:solidFill>
                <a:effectLst/>
                <a:uFillTx/>
                <a:latin typeface="Arial"/>
              </a:rPr>
              <a:t>notification allocation-free і не має queue overflow</a:t>
            </a:r>
            <a:endParaRPr b="0" lang="uk-UA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Rounded Rectangle 39"/>
          <p:cNvSpPr/>
          <p:nvPr/>
        </p:nvSpPr>
        <p:spPr>
          <a:xfrm>
            <a:off x="612720" y="5532120"/>
            <a:ext cx="7131960" cy="456840"/>
          </a:xfrm>
          <a:prstGeom prst="roundRect">
            <a:avLst>
              <a:gd name="adj" fmla="val 12000"/>
            </a:avLst>
          </a:prstGeom>
          <a:solidFill>
            <a:srgbClr val="ddf6e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7" name="TextBox 40"/>
          <p:cNvSpPr/>
          <p:nvPr/>
        </p:nvSpPr>
        <p:spPr>
          <a:xfrm>
            <a:off x="841320" y="5669280"/>
            <a:ext cx="6656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030" strike="noStrike" u="none">
                <a:solidFill>
                  <a:srgbClr val="087f6c"/>
                </a:solidFill>
                <a:effectLst/>
                <a:uFillTx/>
                <a:latin typeface="Arial"/>
              </a:rPr>
              <a:t>Один application task володіє lifecycle: sensor flow, TX і sleep не перетинаються між задачами.</a:t>
            </a:r>
            <a:endParaRPr b="0" lang="uk-UA" sz="10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TextBox 1"/>
          <p:cNvSpPr/>
          <p:nvPr/>
        </p:nvSpPr>
        <p:spPr>
          <a:xfrm>
            <a:off x="594360" y="329040"/>
            <a:ext cx="5303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950" strike="noStrike" u="none">
                <a:solidFill>
                  <a:srgbClr val="20c9a6"/>
                </a:solidFill>
                <a:effectLst/>
                <a:uFillTx/>
                <a:latin typeface="Arial"/>
              </a:rPr>
              <a:t>05 / АРХІТЕКТУРНІ РІШЕННЯ</a:t>
            </a:r>
            <a:endParaRPr b="0" lang="uk-UA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Box 2"/>
          <p:cNvSpPr/>
          <p:nvPr/>
        </p:nvSpPr>
        <p:spPr>
          <a:xfrm>
            <a:off x="594360" y="658440"/>
            <a:ext cx="109724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f7fafa"/>
                </a:solidFill>
                <a:effectLst/>
                <a:uFillTx/>
                <a:latin typeface="Bahnschrift"/>
              </a:rPr>
              <a:t>Persistent queue: свідомо не в V1</a:t>
            </a:r>
            <a:endParaRPr b="0" lang="uk-UA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Box 3"/>
          <p:cNvSpPr/>
          <p:nvPr/>
        </p:nvSpPr>
        <p:spPr>
          <a:xfrm>
            <a:off x="612720" y="1225440"/>
            <a:ext cx="10789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250" strike="noStrike" u="none">
                <a:solidFill>
                  <a:srgbClr val="9bb0b8"/>
                </a:solidFill>
                <a:effectLst/>
                <a:uFillTx/>
                <a:latin typeface="Arial"/>
              </a:rPr>
              <a:t>Помилка передачі не блокує пристрій і не перетворюється на необмежений backlog.</a:t>
            </a:r>
            <a:endParaRPr b="0" lang="uk-UA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Box 4"/>
          <p:cNvSpPr/>
          <p:nvPr/>
        </p:nvSpPr>
        <p:spPr>
          <a:xfrm>
            <a:off x="603360" y="6537960"/>
            <a:ext cx="53031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850" strike="noStrike" u="none">
                <a:solidFill>
                  <a:srgbClr val="9bb0b8"/>
                </a:solidFill>
                <a:effectLst/>
                <a:uFillTx/>
                <a:latin typeface="Arial"/>
              </a:rPr>
              <a:t>METEOSTATION  /  ФІНАЛЬНИЙ ПРОЄКТ</a:t>
            </a:r>
            <a:endParaRPr b="0" lang="uk-UA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Box 5"/>
          <p:cNvSpPr/>
          <p:nvPr/>
        </p:nvSpPr>
        <p:spPr>
          <a:xfrm>
            <a:off x="11109960" y="6473880"/>
            <a:ext cx="475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1" lang="en-US" sz="1000" strike="noStrike" u="none">
                <a:solidFill>
                  <a:srgbClr val="9bb0b8"/>
                </a:solidFill>
                <a:effectLst/>
                <a:uFillTx/>
                <a:latin typeface="Cascadia Mono"/>
              </a:rPr>
              <a:t>08</a:t>
            </a:r>
            <a:endParaRPr b="0" lang="uk-UA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303" name="Connector 6"/>
          <p:cNvCxnSpPr/>
          <p:nvPr/>
        </p:nvCxnSpPr>
        <p:spPr>
          <a:xfrm>
            <a:off x="594360" y="6391440"/>
            <a:ext cx="11000520" cy="360"/>
          </a:xfrm>
          <a:prstGeom prst="straightConnector1">
            <a:avLst/>
          </a:prstGeom>
          <a:ln w="10160">
            <a:solidFill>
              <a:srgbClr val="28434d"/>
            </a:solidFill>
            <a:round/>
          </a:ln>
        </p:spPr>
      </p:cxnSp>
      <p:sp>
        <p:nvSpPr>
          <p:cNvPr id="304" name="Oval 7"/>
          <p:cNvSpPr/>
          <p:nvPr/>
        </p:nvSpPr>
        <p:spPr>
          <a:xfrm>
            <a:off x="1152000" y="1847160"/>
            <a:ext cx="548280" cy="548280"/>
          </a:xfrm>
          <a:prstGeom prst="ellipse">
            <a:avLst/>
          </a:prstGeom>
          <a:solidFill>
            <a:srgbClr val="20c9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5" name="TextBox 8"/>
          <p:cNvSpPr/>
          <p:nvPr/>
        </p:nvSpPr>
        <p:spPr>
          <a:xfrm>
            <a:off x="1152000" y="1984320"/>
            <a:ext cx="548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1000" strike="noStrike" u="none">
                <a:solidFill>
                  <a:srgbClr val="081b26"/>
                </a:solidFill>
                <a:effectLst/>
                <a:uFillTx/>
                <a:latin typeface="Cascadia Mono"/>
              </a:rPr>
              <a:t>1</a:t>
            </a:r>
            <a:endParaRPr b="0" lang="uk-UA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Box 9"/>
          <p:cNvSpPr/>
          <p:nvPr/>
        </p:nvSpPr>
        <p:spPr>
          <a:xfrm>
            <a:off x="631080" y="2541960"/>
            <a:ext cx="1590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1250" strike="noStrike" u="none">
                <a:solidFill>
                  <a:srgbClr val="f7fafa"/>
                </a:solidFill>
                <a:effectLst/>
                <a:uFillTx/>
                <a:latin typeface="Bahnschrift"/>
              </a:rPr>
              <a:t>SAMPLE</a:t>
            </a:r>
            <a:endParaRPr b="0" lang="uk-UA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Box 10"/>
          <p:cNvSpPr/>
          <p:nvPr/>
        </p:nvSpPr>
        <p:spPr>
          <a:xfrm>
            <a:off x="521280" y="2862000"/>
            <a:ext cx="1810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0" lang="en-US" sz="950" strike="noStrike" u="none">
                <a:solidFill>
                  <a:srgbClr val="9bb0b8"/>
                </a:solidFill>
                <a:effectLst/>
                <a:uFillTx/>
                <a:latin typeface="Cascadia Mono"/>
              </a:rPr>
              <a:t>1–2 повідомлення</a:t>
            </a:r>
            <a:endParaRPr b="0" lang="uk-UA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308" name="Connector 11"/>
          <p:cNvCxnSpPr/>
          <p:nvPr/>
        </p:nvCxnSpPr>
        <p:spPr>
          <a:xfrm>
            <a:off x="1719000" y="2121120"/>
            <a:ext cx="1106640" cy="360"/>
          </a:xfrm>
          <a:prstGeom prst="straightConnector1">
            <a:avLst/>
          </a:prstGeom>
          <a:ln w="15240">
            <a:solidFill>
              <a:srgbClr val="28434d"/>
            </a:solidFill>
            <a:round/>
          </a:ln>
        </p:spPr>
      </p:cxnSp>
      <p:sp>
        <p:nvSpPr>
          <p:cNvPr id="309" name="Oval 12"/>
          <p:cNvSpPr/>
          <p:nvPr/>
        </p:nvSpPr>
        <p:spPr>
          <a:xfrm>
            <a:off x="3364920" y="1847160"/>
            <a:ext cx="548280" cy="548280"/>
          </a:xfrm>
          <a:prstGeom prst="ellipse">
            <a:avLst/>
          </a:prstGeom>
          <a:solidFill>
            <a:srgbClr val="20c9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0" name="TextBox 13"/>
          <p:cNvSpPr/>
          <p:nvPr/>
        </p:nvSpPr>
        <p:spPr>
          <a:xfrm>
            <a:off x="3364920" y="1984320"/>
            <a:ext cx="548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1000" strike="noStrike" u="none">
                <a:solidFill>
                  <a:srgbClr val="081b26"/>
                </a:solidFill>
                <a:effectLst/>
                <a:uFillTx/>
                <a:latin typeface="Cascadia Mono"/>
              </a:rPr>
              <a:t>2</a:t>
            </a:r>
            <a:endParaRPr b="0" lang="uk-UA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Box 14"/>
          <p:cNvSpPr/>
          <p:nvPr/>
        </p:nvSpPr>
        <p:spPr>
          <a:xfrm>
            <a:off x="2843640" y="2541960"/>
            <a:ext cx="1590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1250" strike="noStrike" u="none">
                <a:solidFill>
                  <a:srgbClr val="f7fafa"/>
                </a:solidFill>
                <a:effectLst/>
                <a:uFillTx/>
                <a:latin typeface="Bahnschrift"/>
              </a:rPr>
              <a:t>ENCODE</a:t>
            </a:r>
            <a:endParaRPr b="0" lang="uk-UA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Box 15"/>
          <p:cNvSpPr/>
          <p:nvPr/>
        </p:nvSpPr>
        <p:spPr>
          <a:xfrm>
            <a:off x="2734200" y="2862000"/>
            <a:ext cx="1810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0" lang="en-US" sz="950" strike="noStrike" u="none">
                <a:solidFill>
                  <a:srgbClr val="9bb0b8"/>
                </a:solidFill>
                <a:effectLst/>
                <a:uFillTx/>
                <a:latin typeface="Cascadia Mono"/>
              </a:rPr>
              <a:t>static buffers</a:t>
            </a:r>
            <a:endParaRPr b="0" lang="uk-UA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313" name="Connector 16"/>
          <p:cNvCxnSpPr/>
          <p:nvPr/>
        </p:nvCxnSpPr>
        <p:spPr>
          <a:xfrm>
            <a:off x="3931920" y="2121120"/>
            <a:ext cx="1106640" cy="360"/>
          </a:xfrm>
          <a:prstGeom prst="straightConnector1">
            <a:avLst/>
          </a:prstGeom>
          <a:ln w="15240">
            <a:solidFill>
              <a:srgbClr val="28434d"/>
            </a:solidFill>
            <a:round/>
          </a:ln>
        </p:spPr>
      </p:cxnSp>
      <p:sp>
        <p:nvSpPr>
          <p:cNvPr id="314" name="Oval 17"/>
          <p:cNvSpPr/>
          <p:nvPr/>
        </p:nvSpPr>
        <p:spPr>
          <a:xfrm>
            <a:off x="5577840" y="1847160"/>
            <a:ext cx="548280" cy="548280"/>
          </a:xfrm>
          <a:prstGeom prst="ellipse">
            <a:avLst/>
          </a:prstGeom>
          <a:solidFill>
            <a:srgbClr val="20c9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5" name="TextBox 18"/>
          <p:cNvSpPr/>
          <p:nvPr/>
        </p:nvSpPr>
        <p:spPr>
          <a:xfrm>
            <a:off x="5577840" y="1984320"/>
            <a:ext cx="548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1000" strike="noStrike" u="none">
                <a:solidFill>
                  <a:srgbClr val="081b26"/>
                </a:solidFill>
                <a:effectLst/>
                <a:uFillTx/>
                <a:latin typeface="Cascadia Mono"/>
              </a:rPr>
              <a:t>3</a:t>
            </a:r>
            <a:endParaRPr b="0" lang="uk-UA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Box 19"/>
          <p:cNvSpPr/>
          <p:nvPr/>
        </p:nvSpPr>
        <p:spPr>
          <a:xfrm>
            <a:off x="5056560" y="2541960"/>
            <a:ext cx="1590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1250" strike="noStrike" u="none">
                <a:solidFill>
                  <a:srgbClr val="f7fafa"/>
                </a:solidFill>
                <a:effectLst/>
                <a:uFillTx/>
                <a:latin typeface="Bahnschrift"/>
              </a:rPr>
              <a:t>TRANSMIT</a:t>
            </a:r>
            <a:endParaRPr b="0" lang="uk-UA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Box 20"/>
          <p:cNvSpPr/>
          <p:nvPr/>
        </p:nvSpPr>
        <p:spPr>
          <a:xfrm>
            <a:off x="4946760" y="2862000"/>
            <a:ext cx="1810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0" lang="en-US" sz="950" strike="noStrike" u="none">
                <a:solidFill>
                  <a:srgbClr val="9bb0b8"/>
                </a:solidFill>
                <a:effectLst/>
                <a:uFillTx/>
                <a:latin typeface="Cascadia Mono"/>
              </a:rPr>
              <a:t>finite timeout</a:t>
            </a:r>
            <a:endParaRPr b="0" lang="uk-UA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318" name="Connector 21"/>
          <p:cNvCxnSpPr/>
          <p:nvPr/>
        </p:nvCxnSpPr>
        <p:spPr>
          <a:xfrm>
            <a:off x="6144480" y="2121120"/>
            <a:ext cx="1107000" cy="360"/>
          </a:xfrm>
          <a:prstGeom prst="straightConnector1">
            <a:avLst/>
          </a:prstGeom>
          <a:ln w="15240">
            <a:solidFill>
              <a:srgbClr val="28434d"/>
            </a:solidFill>
            <a:round/>
          </a:ln>
        </p:spPr>
      </p:cxnSp>
      <p:sp>
        <p:nvSpPr>
          <p:cNvPr id="319" name="Oval 22"/>
          <p:cNvSpPr/>
          <p:nvPr/>
        </p:nvSpPr>
        <p:spPr>
          <a:xfrm>
            <a:off x="7790760" y="1847160"/>
            <a:ext cx="548280" cy="548280"/>
          </a:xfrm>
          <a:prstGeom prst="ellipse">
            <a:avLst/>
          </a:prstGeom>
          <a:solidFill>
            <a:srgbClr val="0d2633"/>
          </a:solidFill>
          <a:ln w="12700">
            <a:solidFill>
              <a:srgbClr val="28434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0" name="TextBox 23"/>
          <p:cNvSpPr/>
          <p:nvPr/>
        </p:nvSpPr>
        <p:spPr>
          <a:xfrm>
            <a:off x="7790760" y="1984320"/>
            <a:ext cx="548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1000" strike="noStrike" u="none">
                <a:solidFill>
                  <a:srgbClr val="20c9a6"/>
                </a:solidFill>
                <a:effectLst/>
                <a:uFillTx/>
                <a:latin typeface="Cascadia Mono"/>
              </a:rPr>
              <a:t>4</a:t>
            </a:r>
            <a:endParaRPr b="0" lang="uk-UA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Box 24"/>
          <p:cNvSpPr/>
          <p:nvPr/>
        </p:nvSpPr>
        <p:spPr>
          <a:xfrm>
            <a:off x="7269480" y="2541960"/>
            <a:ext cx="1590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1250" strike="noStrike" u="none">
                <a:solidFill>
                  <a:srgbClr val="f7fafa"/>
                </a:solidFill>
                <a:effectLst/>
                <a:uFillTx/>
                <a:latin typeface="Bahnschrift"/>
              </a:rPr>
              <a:t>RESULT</a:t>
            </a:r>
            <a:endParaRPr b="0" lang="uk-UA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Box 25"/>
          <p:cNvSpPr/>
          <p:nvPr/>
        </p:nvSpPr>
        <p:spPr>
          <a:xfrm>
            <a:off x="7159680" y="2862000"/>
            <a:ext cx="1810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0" lang="en-US" sz="950" strike="noStrike" u="none">
                <a:solidFill>
                  <a:srgbClr val="9bb0b8"/>
                </a:solidFill>
                <a:effectLst/>
                <a:uFillTx/>
                <a:latin typeface="Cascadia Mono"/>
              </a:rPr>
              <a:t>diagnostics</a:t>
            </a:r>
            <a:endParaRPr b="0" lang="uk-UA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323" name="Connector 26"/>
          <p:cNvCxnSpPr/>
          <p:nvPr/>
        </p:nvCxnSpPr>
        <p:spPr>
          <a:xfrm>
            <a:off x="8357400" y="2121120"/>
            <a:ext cx="1107000" cy="360"/>
          </a:xfrm>
          <a:prstGeom prst="straightConnector1">
            <a:avLst/>
          </a:prstGeom>
          <a:ln w="15240">
            <a:solidFill>
              <a:srgbClr val="28434d"/>
            </a:solidFill>
            <a:round/>
          </a:ln>
        </p:spPr>
      </p:cxnSp>
      <p:sp>
        <p:nvSpPr>
          <p:cNvPr id="324" name="Oval 27"/>
          <p:cNvSpPr/>
          <p:nvPr/>
        </p:nvSpPr>
        <p:spPr>
          <a:xfrm>
            <a:off x="10003680" y="1847160"/>
            <a:ext cx="548280" cy="548280"/>
          </a:xfrm>
          <a:prstGeom prst="ellipse">
            <a:avLst/>
          </a:prstGeom>
          <a:solidFill>
            <a:srgbClr val="0d2633"/>
          </a:solidFill>
          <a:ln w="12700">
            <a:solidFill>
              <a:srgbClr val="28434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5" name="TextBox 28"/>
          <p:cNvSpPr/>
          <p:nvPr/>
        </p:nvSpPr>
        <p:spPr>
          <a:xfrm>
            <a:off x="10003680" y="1984320"/>
            <a:ext cx="548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1000" strike="noStrike" u="none">
                <a:solidFill>
                  <a:srgbClr val="20c9a6"/>
                </a:solidFill>
                <a:effectLst/>
                <a:uFillTx/>
                <a:latin typeface="Cascadia Mono"/>
              </a:rPr>
              <a:t>5</a:t>
            </a:r>
            <a:endParaRPr b="0" lang="uk-UA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Box 29"/>
          <p:cNvSpPr/>
          <p:nvPr/>
        </p:nvSpPr>
        <p:spPr>
          <a:xfrm>
            <a:off x="9482400" y="2541960"/>
            <a:ext cx="1590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1250" strike="noStrike" u="none">
                <a:solidFill>
                  <a:srgbClr val="f7fafa"/>
                </a:solidFill>
                <a:effectLst/>
                <a:uFillTx/>
                <a:latin typeface="Bahnschrift"/>
              </a:rPr>
              <a:t>SLEEP</a:t>
            </a:r>
            <a:endParaRPr b="0" lang="uk-UA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Box 30"/>
          <p:cNvSpPr/>
          <p:nvPr/>
        </p:nvSpPr>
        <p:spPr>
          <a:xfrm>
            <a:off x="9372600" y="2862000"/>
            <a:ext cx="1810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0" lang="en-US" sz="950" strike="noStrike" u="none">
                <a:solidFill>
                  <a:srgbClr val="9bb0b8"/>
                </a:solidFill>
                <a:effectLst/>
                <a:uFillTx/>
                <a:latin typeface="Cascadia Mono"/>
              </a:rPr>
              <a:t>fresh next wake</a:t>
            </a:r>
            <a:endParaRPr b="0" lang="uk-UA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Rounded Rectangle 31"/>
          <p:cNvSpPr/>
          <p:nvPr/>
        </p:nvSpPr>
        <p:spPr>
          <a:xfrm>
            <a:off x="658440" y="3547800"/>
            <a:ext cx="3428640" cy="1874160"/>
          </a:xfrm>
          <a:prstGeom prst="roundRect">
            <a:avLst>
              <a:gd name="adj" fmla="val 12000"/>
            </a:avLst>
          </a:prstGeom>
          <a:solidFill>
            <a:srgbClr val="0d2633"/>
          </a:solidFill>
          <a:ln w="12700">
            <a:solidFill>
              <a:srgbClr val="28434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9" name="Rectangle 32"/>
          <p:cNvSpPr/>
          <p:nvPr/>
        </p:nvSpPr>
        <p:spPr>
          <a:xfrm>
            <a:off x="658440" y="3547800"/>
            <a:ext cx="72720" cy="1874160"/>
          </a:xfrm>
          <a:prstGeom prst="rect">
            <a:avLst/>
          </a:prstGeom>
          <a:solidFill>
            <a:srgbClr val="20c9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0" name="TextBox 33"/>
          <p:cNvSpPr/>
          <p:nvPr/>
        </p:nvSpPr>
        <p:spPr>
          <a:xfrm>
            <a:off x="932760" y="3794760"/>
            <a:ext cx="28159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000" strike="noStrike" u="none">
                <a:solidFill>
                  <a:srgbClr val="20c9a6"/>
                </a:solidFill>
                <a:effectLst/>
                <a:uFillTx/>
                <a:latin typeface="Cascadia Mono"/>
              </a:rPr>
              <a:t>ЩО ВИГРАЄМО</a:t>
            </a:r>
            <a:endParaRPr b="0" lang="uk-UA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Box 34"/>
          <p:cNvSpPr/>
          <p:nvPr/>
        </p:nvSpPr>
        <p:spPr>
          <a:xfrm>
            <a:off x="932760" y="4224600"/>
            <a:ext cx="279756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b="0" lang="en-US" sz="1130" strike="noStrike" u="none">
                <a:solidFill>
                  <a:srgbClr val="f7fafa"/>
                </a:solidFill>
                <a:effectLst/>
                <a:uFillTx/>
                <a:latin typeface="Arial"/>
              </a:rPr>
              <a:t>без flash wear</a:t>
            </a:r>
            <a:endParaRPr b="0" lang="uk-UA" sz="11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130" strike="noStrike" u="none">
                <a:solidFill>
                  <a:srgbClr val="f7fafa"/>
                </a:solidFill>
                <a:effectLst/>
                <a:uFillTx/>
                <a:latin typeface="Arial"/>
              </a:rPr>
              <a:t>без replay / ordering</a:t>
            </a:r>
            <a:endParaRPr b="0" lang="uk-UA" sz="11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130" strike="noStrike" u="none">
                <a:solidFill>
                  <a:srgbClr val="f7fafa"/>
                </a:solidFill>
                <a:effectLst/>
                <a:uFillTx/>
                <a:latin typeface="Arial"/>
              </a:rPr>
              <a:t>bounded RAM</a:t>
            </a:r>
            <a:endParaRPr b="0" lang="uk-UA" sz="11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</a:pPr>
            <a:r>
              <a:rPr b="0" lang="en-US" sz="1130" strike="noStrike" u="none">
                <a:solidFill>
                  <a:srgbClr val="f7fafa"/>
                </a:solidFill>
                <a:effectLst/>
                <a:uFillTx/>
                <a:latin typeface="Arial"/>
              </a:rPr>
              <a:t>менший failure surface</a:t>
            </a:r>
            <a:endParaRPr b="0" lang="uk-UA" sz="11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Rounded Rectangle 35"/>
          <p:cNvSpPr/>
          <p:nvPr/>
        </p:nvSpPr>
        <p:spPr>
          <a:xfrm>
            <a:off x="4334400" y="3547800"/>
            <a:ext cx="3428640" cy="1874160"/>
          </a:xfrm>
          <a:prstGeom prst="roundRect">
            <a:avLst>
              <a:gd name="adj" fmla="val 12000"/>
            </a:avLst>
          </a:prstGeom>
          <a:solidFill>
            <a:srgbClr val="0d2633"/>
          </a:solidFill>
          <a:ln w="12700">
            <a:solidFill>
              <a:srgbClr val="28434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3" name="Rectangle 36"/>
          <p:cNvSpPr/>
          <p:nvPr/>
        </p:nvSpPr>
        <p:spPr>
          <a:xfrm>
            <a:off x="4334400" y="3547800"/>
            <a:ext cx="72720" cy="1874160"/>
          </a:xfrm>
          <a:prstGeom prst="rect">
            <a:avLst/>
          </a:prstGeom>
          <a:solidFill>
            <a:srgbClr val="f0b95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4" name="TextBox 37"/>
          <p:cNvSpPr/>
          <p:nvPr/>
        </p:nvSpPr>
        <p:spPr>
          <a:xfrm>
            <a:off x="4608720" y="3794760"/>
            <a:ext cx="28159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000" strike="noStrike" u="none">
                <a:solidFill>
                  <a:srgbClr val="f0b95b"/>
                </a:solidFill>
                <a:effectLst/>
                <a:uFillTx/>
                <a:latin typeface="Cascadia Mono"/>
              </a:rPr>
              <a:t>ЯКА ЦІНА</a:t>
            </a:r>
            <a:endParaRPr b="0" lang="uk-UA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Box 38"/>
          <p:cNvSpPr/>
          <p:nvPr/>
        </p:nvSpPr>
        <p:spPr>
          <a:xfrm>
            <a:off x="4608720" y="4224600"/>
            <a:ext cx="279756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b="0" lang="en-US" sz="1130" strike="noStrike" u="none">
                <a:solidFill>
                  <a:srgbClr val="f7fafa"/>
                </a:solidFill>
                <a:effectLst/>
                <a:uFillTx/>
                <a:latin typeface="Arial"/>
              </a:rPr>
              <a:t>мережева відмова втрачає поточний sample</a:t>
            </a:r>
            <a:endParaRPr b="0" lang="uk-UA" sz="11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</a:pPr>
            <a:r>
              <a:rPr b="0" lang="en-US" sz="1130" strike="noStrike" u="none">
                <a:solidFill>
                  <a:srgbClr val="f7fafa"/>
                </a:solidFill>
                <a:effectLst/>
                <a:uFillTx/>
                <a:latin typeface="Arial"/>
              </a:rPr>
              <a:t>історія між циклами не зберігається</a:t>
            </a:r>
            <a:endParaRPr b="0" lang="uk-UA" sz="11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Rounded Rectangle 39"/>
          <p:cNvSpPr/>
          <p:nvPr/>
        </p:nvSpPr>
        <p:spPr>
          <a:xfrm>
            <a:off x="8010000" y="3547800"/>
            <a:ext cx="3428640" cy="1874160"/>
          </a:xfrm>
          <a:prstGeom prst="roundRect">
            <a:avLst>
              <a:gd name="adj" fmla="val 12000"/>
            </a:avLst>
          </a:prstGeom>
          <a:solidFill>
            <a:srgbClr val="0d2633"/>
          </a:solidFill>
          <a:ln w="12700">
            <a:solidFill>
              <a:srgbClr val="28434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7" name="Rectangle 40"/>
          <p:cNvSpPr/>
          <p:nvPr/>
        </p:nvSpPr>
        <p:spPr>
          <a:xfrm>
            <a:off x="8010000" y="3547800"/>
            <a:ext cx="72720" cy="1874160"/>
          </a:xfrm>
          <a:prstGeom prst="rect">
            <a:avLst/>
          </a:prstGeom>
          <a:solidFill>
            <a:srgbClr val="55be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8" name="TextBox 41"/>
          <p:cNvSpPr/>
          <p:nvPr/>
        </p:nvSpPr>
        <p:spPr>
          <a:xfrm>
            <a:off x="8284320" y="3794760"/>
            <a:ext cx="28159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000" strike="noStrike" u="none">
                <a:solidFill>
                  <a:srgbClr val="55bef0"/>
                </a:solidFill>
                <a:effectLst/>
                <a:uFillTx/>
                <a:latin typeface="Cascadia Mono"/>
              </a:rPr>
              <a:t>КОЛИ ДОДАВАТИ</a:t>
            </a:r>
            <a:endParaRPr b="0" lang="uk-UA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Box 42"/>
          <p:cNvSpPr/>
          <p:nvPr/>
        </p:nvSpPr>
        <p:spPr>
          <a:xfrm>
            <a:off x="8284320" y="4224600"/>
            <a:ext cx="279756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b="0" lang="en-US" sz="1130" strike="noStrike" u="none">
                <a:solidFill>
                  <a:srgbClr val="f7fafa"/>
                </a:solidFill>
                <a:effectLst/>
                <a:uFillTx/>
                <a:latin typeface="Arial"/>
              </a:rPr>
              <a:t>лише за результатами польових даних</a:t>
            </a:r>
            <a:endParaRPr b="0" lang="uk-UA" sz="11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</a:pPr>
            <a:r>
              <a:rPr b="0" lang="en-US" sz="1130" strike="noStrike" u="none">
                <a:solidFill>
                  <a:srgbClr val="f7fafa"/>
                </a:solidFill>
                <a:effectLst/>
                <a:uFillTx/>
                <a:latin typeface="Arial"/>
              </a:rPr>
              <a:t>як bounded ring buffer</a:t>
            </a:r>
            <a:endParaRPr b="0" lang="uk-UA" sz="11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Rounded Rectangle 43"/>
          <p:cNvSpPr/>
          <p:nvPr/>
        </p:nvSpPr>
        <p:spPr>
          <a:xfrm>
            <a:off x="658440" y="5623560"/>
            <a:ext cx="10835280" cy="292320"/>
          </a:xfrm>
          <a:prstGeom prst="roundRect">
            <a:avLst>
              <a:gd name="adj" fmla="val 12000"/>
            </a:avLst>
          </a:prstGeom>
          <a:solidFill>
            <a:srgbClr val="0d2633"/>
          </a:solidFill>
          <a:ln w="12700">
            <a:solidFill>
              <a:srgbClr val="28434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1" name="TextBox 44"/>
          <p:cNvSpPr/>
          <p:nvPr/>
        </p:nvSpPr>
        <p:spPr>
          <a:xfrm>
            <a:off x="859680" y="5678280"/>
            <a:ext cx="104238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000" strike="noStrike" u="none">
                <a:solidFill>
                  <a:srgbClr val="9bb0b8"/>
                </a:solidFill>
                <a:effectLst/>
                <a:uFillTx/>
                <a:latin typeface="Cascadia Mono"/>
              </a:rPr>
              <a:t>MQTT QoS 1 чекає broker ACK; LoRa TX-only — без ACK. У обох випадках failed message не зберігається в persistent queue.</a:t>
            </a:r>
            <a:endParaRPr b="0" lang="uk-UA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TextBox 1"/>
          <p:cNvSpPr/>
          <p:nvPr/>
        </p:nvSpPr>
        <p:spPr>
          <a:xfrm>
            <a:off x="594360" y="329040"/>
            <a:ext cx="5303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950" strike="noStrike" u="none">
                <a:solidFill>
                  <a:srgbClr val="087f6c"/>
                </a:solidFill>
                <a:effectLst/>
                <a:uFillTx/>
                <a:latin typeface="Arial"/>
              </a:rPr>
              <a:t>06 / АВТОНОМНІСТЬ</a:t>
            </a:r>
            <a:endParaRPr b="0" lang="uk-UA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Box 2"/>
          <p:cNvSpPr/>
          <p:nvPr/>
        </p:nvSpPr>
        <p:spPr>
          <a:xfrm>
            <a:off x="594360" y="658440"/>
            <a:ext cx="109724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0232e"/>
                </a:solidFill>
                <a:effectLst/>
                <a:uFillTx/>
                <a:latin typeface="Bahnschrift"/>
              </a:rPr>
              <a:t>Deep sleep — основний стан системи</a:t>
            </a:r>
            <a:endParaRPr b="0" lang="uk-U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Box 3"/>
          <p:cNvSpPr/>
          <p:nvPr/>
        </p:nvSpPr>
        <p:spPr>
          <a:xfrm>
            <a:off x="612720" y="1225440"/>
            <a:ext cx="10789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250" strike="noStrike" u="none">
                <a:solidFill>
                  <a:srgbClr val="6c838d"/>
                </a:solidFill>
                <a:effectLst/>
                <a:uFillTx/>
                <a:latin typeface="Arial"/>
              </a:rPr>
              <a:t>Активний цикл короткий; периферія централізовано переводиться в low-power перед сном.</a:t>
            </a:r>
            <a:endParaRPr b="0" lang="uk-UA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Box 4"/>
          <p:cNvSpPr/>
          <p:nvPr/>
        </p:nvSpPr>
        <p:spPr>
          <a:xfrm>
            <a:off x="603360" y="6537960"/>
            <a:ext cx="53031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850" strike="noStrike" u="none">
                <a:solidFill>
                  <a:srgbClr val="6c838d"/>
                </a:solidFill>
                <a:effectLst/>
                <a:uFillTx/>
                <a:latin typeface="Arial"/>
              </a:rPr>
              <a:t>METEOSTATION  /  ФІНАЛЬНИЙ ПРОЄКТ</a:t>
            </a:r>
            <a:endParaRPr b="0" lang="uk-UA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Box 5"/>
          <p:cNvSpPr/>
          <p:nvPr/>
        </p:nvSpPr>
        <p:spPr>
          <a:xfrm>
            <a:off x="11109960" y="6473880"/>
            <a:ext cx="475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1" lang="en-US" sz="1000" strike="noStrike" u="none">
                <a:solidFill>
                  <a:srgbClr val="6c838d"/>
                </a:solidFill>
                <a:effectLst/>
                <a:uFillTx/>
                <a:latin typeface="Cascadia Mono"/>
              </a:rPr>
              <a:t>09</a:t>
            </a:r>
            <a:endParaRPr b="0" lang="uk-UA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47" name="Connector 6"/>
          <p:cNvCxnSpPr/>
          <p:nvPr/>
        </p:nvCxnSpPr>
        <p:spPr>
          <a:xfrm>
            <a:off x="594360" y="6391440"/>
            <a:ext cx="11000520" cy="360"/>
          </a:xfrm>
          <a:prstGeom prst="straightConnector1">
            <a:avLst/>
          </a:prstGeom>
          <a:ln w="10160">
            <a:solidFill>
              <a:srgbClr val="d8e3e2"/>
            </a:solidFill>
            <a:round/>
          </a:ln>
        </p:spPr>
      </p:cxnSp>
      <p:sp>
        <p:nvSpPr>
          <p:cNvPr id="348" name="Oval 7"/>
          <p:cNvSpPr/>
          <p:nvPr/>
        </p:nvSpPr>
        <p:spPr>
          <a:xfrm>
            <a:off x="1042560" y="1847160"/>
            <a:ext cx="529920" cy="529920"/>
          </a:xfrm>
          <a:prstGeom prst="ellipse">
            <a:avLst/>
          </a:prstGeom>
          <a:solidFill>
            <a:srgbClr val="20c9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9" name="TextBox 8"/>
          <p:cNvSpPr/>
          <p:nvPr/>
        </p:nvSpPr>
        <p:spPr>
          <a:xfrm>
            <a:off x="1042560" y="1984320"/>
            <a:ext cx="529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1000" strike="noStrike" u="none">
                <a:solidFill>
                  <a:srgbClr val="081b26"/>
                </a:solidFill>
                <a:effectLst/>
                <a:uFillTx/>
                <a:latin typeface="Cascadia Mono"/>
              </a:rPr>
              <a:t>01</a:t>
            </a:r>
            <a:endParaRPr b="0" lang="uk-UA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Box 9"/>
          <p:cNvSpPr/>
          <p:nvPr/>
        </p:nvSpPr>
        <p:spPr>
          <a:xfrm>
            <a:off x="658440" y="2541960"/>
            <a:ext cx="129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1400" strike="noStrike" u="none">
                <a:solidFill>
                  <a:srgbClr val="10232e"/>
                </a:solidFill>
                <a:effectLst/>
                <a:uFillTx/>
                <a:latin typeface="Bahnschrift"/>
              </a:rPr>
              <a:t>WAKE</a:t>
            </a:r>
            <a:endParaRPr b="0" lang="uk-UA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Box 10"/>
          <p:cNvSpPr/>
          <p:nvPr/>
        </p:nvSpPr>
        <p:spPr>
          <a:xfrm>
            <a:off x="585360" y="2880360"/>
            <a:ext cx="1444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0" lang="en-US" sz="1000" strike="noStrike" u="none">
                <a:solidFill>
                  <a:srgbClr val="6c838d"/>
                </a:solidFill>
                <a:effectLst/>
                <a:uFillTx/>
                <a:latin typeface="Cascadia Mono"/>
              </a:rPr>
              <a:t>timer / IRQ</a:t>
            </a:r>
            <a:endParaRPr b="0" lang="uk-UA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52" name="Connector 11"/>
          <p:cNvCxnSpPr/>
          <p:nvPr/>
        </p:nvCxnSpPr>
        <p:spPr>
          <a:xfrm>
            <a:off x="1609200" y="2112120"/>
            <a:ext cx="804960" cy="360"/>
          </a:xfrm>
          <a:prstGeom prst="straightConnector1">
            <a:avLst/>
          </a:prstGeom>
          <a:ln w="17780">
            <a:solidFill>
              <a:srgbClr val="087f6c"/>
            </a:solidFill>
            <a:round/>
          </a:ln>
        </p:spPr>
      </p:cxnSp>
      <p:sp>
        <p:nvSpPr>
          <p:cNvPr id="353" name="Oval 12"/>
          <p:cNvSpPr/>
          <p:nvPr/>
        </p:nvSpPr>
        <p:spPr>
          <a:xfrm>
            <a:off x="2871360" y="1847160"/>
            <a:ext cx="529920" cy="529920"/>
          </a:xfrm>
          <a:prstGeom prst="ellipse">
            <a:avLst/>
          </a:prstGeom>
          <a:solidFill>
            <a:srgbClr val="20c9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4" name="TextBox 13"/>
          <p:cNvSpPr/>
          <p:nvPr/>
        </p:nvSpPr>
        <p:spPr>
          <a:xfrm>
            <a:off x="2871360" y="1984320"/>
            <a:ext cx="529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1000" strike="noStrike" u="none">
                <a:solidFill>
                  <a:srgbClr val="081b26"/>
                </a:solidFill>
                <a:effectLst/>
                <a:uFillTx/>
                <a:latin typeface="Cascadia Mono"/>
              </a:rPr>
              <a:t>02</a:t>
            </a:r>
            <a:endParaRPr b="0" lang="uk-UA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Box 14"/>
          <p:cNvSpPr/>
          <p:nvPr/>
        </p:nvSpPr>
        <p:spPr>
          <a:xfrm>
            <a:off x="2487240" y="2541960"/>
            <a:ext cx="129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1400" strike="noStrike" u="none">
                <a:solidFill>
                  <a:srgbClr val="10232e"/>
                </a:solidFill>
                <a:effectLst/>
                <a:uFillTx/>
                <a:latin typeface="Bahnschrift"/>
              </a:rPr>
              <a:t>REASON</a:t>
            </a:r>
            <a:endParaRPr b="0" lang="uk-UA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Box 15"/>
          <p:cNvSpPr/>
          <p:nvPr/>
        </p:nvSpPr>
        <p:spPr>
          <a:xfrm>
            <a:off x="2414160" y="2880360"/>
            <a:ext cx="1444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0" lang="en-US" sz="1000" strike="noStrike" u="none">
                <a:solidFill>
                  <a:srgbClr val="6c838d"/>
                </a:solidFill>
                <a:effectLst/>
                <a:uFillTx/>
                <a:latin typeface="Cascadia Mono"/>
              </a:rPr>
              <a:t>wake routing</a:t>
            </a:r>
            <a:endParaRPr b="0" lang="uk-UA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57" name="Connector 16"/>
          <p:cNvCxnSpPr/>
          <p:nvPr/>
        </p:nvCxnSpPr>
        <p:spPr>
          <a:xfrm>
            <a:off x="3438000" y="2112120"/>
            <a:ext cx="804960" cy="360"/>
          </a:xfrm>
          <a:prstGeom prst="straightConnector1">
            <a:avLst/>
          </a:prstGeom>
          <a:ln w="17780">
            <a:solidFill>
              <a:srgbClr val="087f6c"/>
            </a:solidFill>
            <a:round/>
          </a:ln>
        </p:spPr>
      </p:cxnSp>
      <p:sp>
        <p:nvSpPr>
          <p:cNvPr id="358" name="Oval 17"/>
          <p:cNvSpPr/>
          <p:nvPr/>
        </p:nvSpPr>
        <p:spPr>
          <a:xfrm>
            <a:off x="4700160" y="1847160"/>
            <a:ext cx="529920" cy="529920"/>
          </a:xfrm>
          <a:prstGeom prst="ellipse">
            <a:avLst/>
          </a:prstGeom>
          <a:solidFill>
            <a:srgbClr val="20c9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9" name="TextBox 18"/>
          <p:cNvSpPr/>
          <p:nvPr/>
        </p:nvSpPr>
        <p:spPr>
          <a:xfrm>
            <a:off x="4700160" y="1984320"/>
            <a:ext cx="529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1000" strike="noStrike" u="none">
                <a:solidFill>
                  <a:srgbClr val="081b26"/>
                </a:solidFill>
                <a:effectLst/>
                <a:uFillTx/>
                <a:latin typeface="Cascadia Mono"/>
              </a:rPr>
              <a:t>03</a:t>
            </a:r>
            <a:endParaRPr b="0" lang="uk-UA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Box 19"/>
          <p:cNvSpPr/>
          <p:nvPr/>
        </p:nvSpPr>
        <p:spPr>
          <a:xfrm>
            <a:off x="4316040" y="2541960"/>
            <a:ext cx="129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1400" strike="noStrike" u="none">
                <a:solidFill>
                  <a:srgbClr val="10232e"/>
                </a:solidFill>
                <a:effectLst/>
                <a:uFillTx/>
                <a:latin typeface="Bahnschrift"/>
              </a:rPr>
              <a:t>READ</a:t>
            </a:r>
            <a:endParaRPr b="0" lang="uk-UA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Box 20"/>
          <p:cNvSpPr/>
          <p:nvPr/>
        </p:nvSpPr>
        <p:spPr>
          <a:xfrm>
            <a:off x="4242960" y="2880360"/>
            <a:ext cx="1444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0" lang="en-US" sz="1000" strike="noStrike" u="none">
                <a:solidFill>
                  <a:srgbClr val="6c838d"/>
                </a:solidFill>
                <a:effectLst/>
                <a:uFillTx/>
                <a:latin typeface="Cascadia Mono"/>
              </a:rPr>
              <a:t>лише потрібне</a:t>
            </a:r>
            <a:endParaRPr b="0" lang="uk-UA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62" name="Connector 21"/>
          <p:cNvCxnSpPr/>
          <p:nvPr/>
        </p:nvCxnSpPr>
        <p:spPr>
          <a:xfrm>
            <a:off x="5266800" y="2112120"/>
            <a:ext cx="804960" cy="360"/>
          </a:xfrm>
          <a:prstGeom prst="straightConnector1">
            <a:avLst/>
          </a:prstGeom>
          <a:ln w="17780">
            <a:solidFill>
              <a:srgbClr val="087f6c"/>
            </a:solidFill>
            <a:round/>
          </a:ln>
        </p:spPr>
      </p:cxnSp>
      <p:sp>
        <p:nvSpPr>
          <p:cNvPr id="363" name="Oval 22"/>
          <p:cNvSpPr/>
          <p:nvPr/>
        </p:nvSpPr>
        <p:spPr>
          <a:xfrm>
            <a:off x="6528960" y="1847160"/>
            <a:ext cx="529920" cy="529920"/>
          </a:xfrm>
          <a:prstGeom prst="ellipse">
            <a:avLst/>
          </a:prstGeom>
          <a:solidFill>
            <a:srgbClr val="20c9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4" name="TextBox 23"/>
          <p:cNvSpPr/>
          <p:nvPr/>
        </p:nvSpPr>
        <p:spPr>
          <a:xfrm>
            <a:off x="6528960" y="1984320"/>
            <a:ext cx="529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1000" strike="noStrike" u="none">
                <a:solidFill>
                  <a:srgbClr val="081b26"/>
                </a:solidFill>
                <a:effectLst/>
                <a:uFillTx/>
                <a:latin typeface="Cascadia Mono"/>
              </a:rPr>
              <a:t>04</a:t>
            </a:r>
            <a:endParaRPr b="0" lang="uk-UA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Box 24"/>
          <p:cNvSpPr/>
          <p:nvPr/>
        </p:nvSpPr>
        <p:spPr>
          <a:xfrm>
            <a:off x="6144840" y="2541960"/>
            <a:ext cx="129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1400" strike="noStrike" u="none">
                <a:solidFill>
                  <a:srgbClr val="10232e"/>
                </a:solidFill>
                <a:effectLst/>
                <a:uFillTx/>
                <a:latin typeface="Bahnschrift"/>
              </a:rPr>
              <a:t>ENCODE</a:t>
            </a:r>
            <a:endParaRPr b="0" lang="uk-UA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Box 25"/>
          <p:cNvSpPr/>
          <p:nvPr/>
        </p:nvSpPr>
        <p:spPr>
          <a:xfrm>
            <a:off x="6071760" y="2880360"/>
            <a:ext cx="1444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0" lang="en-US" sz="1000" strike="noStrike" u="none">
                <a:solidFill>
                  <a:srgbClr val="6c838d"/>
                </a:solidFill>
                <a:effectLst/>
                <a:uFillTx/>
                <a:latin typeface="Cascadia Mono"/>
              </a:rPr>
              <a:t>JSON / binary</a:t>
            </a:r>
            <a:endParaRPr b="0" lang="uk-UA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67" name="Connector 26"/>
          <p:cNvCxnSpPr/>
          <p:nvPr/>
        </p:nvCxnSpPr>
        <p:spPr>
          <a:xfrm>
            <a:off x="7095600" y="2112120"/>
            <a:ext cx="804960" cy="360"/>
          </a:xfrm>
          <a:prstGeom prst="straightConnector1">
            <a:avLst/>
          </a:prstGeom>
          <a:ln w="17780">
            <a:solidFill>
              <a:srgbClr val="087f6c"/>
            </a:solidFill>
            <a:round/>
          </a:ln>
        </p:spPr>
      </p:cxnSp>
      <p:sp>
        <p:nvSpPr>
          <p:cNvPr id="368" name="Oval 27"/>
          <p:cNvSpPr/>
          <p:nvPr/>
        </p:nvSpPr>
        <p:spPr>
          <a:xfrm>
            <a:off x="8357760" y="1847160"/>
            <a:ext cx="529920" cy="529920"/>
          </a:xfrm>
          <a:prstGeom prst="ellipse">
            <a:avLst/>
          </a:prstGeom>
          <a:solidFill>
            <a:srgbClr val="20c9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9" name="TextBox 28"/>
          <p:cNvSpPr/>
          <p:nvPr/>
        </p:nvSpPr>
        <p:spPr>
          <a:xfrm>
            <a:off x="8357760" y="1984320"/>
            <a:ext cx="529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1000" strike="noStrike" u="none">
                <a:solidFill>
                  <a:srgbClr val="081b26"/>
                </a:solidFill>
                <a:effectLst/>
                <a:uFillTx/>
                <a:latin typeface="Cascadia Mono"/>
              </a:rPr>
              <a:t>05</a:t>
            </a:r>
            <a:endParaRPr b="0" lang="uk-UA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Box 29"/>
          <p:cNvSpPr/>
          <p:nvPr/>
        </p:nvSpPr>
        <p:spPr>
          <a:xfrm>
            <a:off x="7973640" y="2541960"/>
            <a:ext cx="129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1400" strike="noStrike" u="none">
                <a:solidFill>
                  <a:srgbClr val="10232e"/>
                </a:solidFill>
                <a:effectLst/>
                <a:uFillTx/>
                <a:latin typeface="Bahnschrift"/>
              </a:rPr>
              <a:t>TX</a:t>
            </a:r>
            <a:endParaRPr b="0" lang="uk-UA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Box 30"/>
          <p:cNvSpPr/>
          <p:nvPr/>
        </p:nvSpPr>
        <p:spPr>
          <a:xfrm>
            <a:off x="7900560" y="2880360"/>
            <a:ext cx="1444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0" lang="en-US" sz="1000" strike="noStrike" u="none">
                <a:solidFill>
                  <a:srgbClr val="6c838d"/>
                </a:solidFill>
                <a:effectLst/>
                <a:uFillTx/>
                <a:latin typeface="Cascadia Mono"/>
              </a:rPr>
              <a:t>MQTT / LoRa</a:t>
            </a:r>
            <a:endParaRPr b="0" lang="uk-UA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72" name="Connector 31"/>
          <p:cNvCxnSpPr/>
          <p:nvPr/>
        </p:nvCxnSpPr>
        <p:spPr>
          <a:xfrm>
            <a:off x="8924400" y="2112120"/>
            <a:ext cx="804960" cy="360"/>
          </a:xfrm>
          <a:prstGeom prst="straightConnector1">
            <a:avLst/>
          </a:prstGeom>
          <a:ln w="17780">
            <a:solidFill>
              <a:srgbClr val="087f6c"/>
            </a:solidFill>
            <a:round/>
          </a:ln>
        </p:spPr>
      </p:cxnSp>
      <p:sp>
        <p:nvSpPr>
          <p:cNvPr id="373" name="Oval 32"/>
          <p:cNvSpPr/>
          <p:nvPr/>
        </p:nvSpPr>
        <p:spPr>
          <a:xfrm>
            <a:off x="10186560" y="1847160"/>
            <a:ext cx="529920" cy="529920"/>
          </a:xfrm>
          <a:prstGeom prst="ellipse">
            <a:avLst/>
          </a:prstGeom>
          <a:solidFill>
            <a:srgbClr val="081b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4" name="TextBox 33"/>
          <p:cNvSpPr/>
          <p:nvPr/>
        </p:nvSpPr>
        <p:spPr>
          <a:xfrm>
            <a:off x="10186560" y="1984320"/>
            <a:ext cx="529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1000" strike="noStrike" u="none">
                <a:solidFill>
                  <a:srgbClr val="f7fafa"/>
                </a:solidFill>
                <a:effectLst/>
                <a:uFillTx/>
                <a:latin typeface="Cascadia Mono"/>
              </a:rPr>
              <a:t>06</a:t>
            </a:r>
            <a:endParaRPr b="0" lang="uk-UA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Box 34"/>
          <p:cNvSpPr/>
          <p:nvPr/>
        </p:nvSpPr>
        <p:spPr>
          <a:xfrm>
            <a:off x="9802440" y="2541960"/>
            <a:ext cx="129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1400" strike="noStrike" u="none">
                <a:solidFill>
                  <a:srgbClr val="10232e"/>
                </a:solidFill>
                <a:effectLst/>
                <a:uFillTx/>
                <a:latin typeface="Bahnschrift"/>
              </a:rPr>
              <a:t>SLEEP</a:t>
            </a:r>
            <a:endParaRPr b="0" lang="uk-UA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Box 35"/>
          <p:cNvSpPr/>
          <p:nvPr/>
        </p:nvSpPr>
        <p:spPr>
          <a:xfrm>
            <a:off x="9729360" y="2880360"/>
            <a:ext cx="1444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0" lang="en-US" sz="1000" strike="noStrike" u="none">
                <a:solidFill>
                  <a:srgbClr val="6c838d"/>
                </a:solidFill>
                <a:effectLst/>
                <a:uFillTx/>
                <a:latin typeface="Cascadia Mono"/>
              </a:rPr>
              <a:t>low-power</a:t>
            </a:r>
            <a:endParaRPr b="0" lang="uk-UA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Rounded Rectangle 36"/>
          <p:cNvSpPr/>
          <p:nvPr/>
        </p:nvSpPr>
        <p:spPr>
          <a:xfrm>
            <a:off x="612720" y="3438000"/>
            <a:ext cx="6967440" cy="2075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8" name="TextBox 37"/>
          <p:cNvSpPr/>
          <p:nvPr/>
        </p:nvSpPr>
        <p:spPr>
          <a:xfrm>
            <a:off x="877680" y="3675960"/>
            <a:ext cx="2285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000" strike="noStrike" u="none">
                <a:solidFill>
                  <a:srgbClr val="087f6c"/>
                </a:solidFill>
                <a:effectLst/>
                <a:uFillTx/>
                <a:latin typeface="Arial"/>
              </a:rPr>
              <a:t>BATTERY / SOLAR</a:t>
            </a:r>
            <a:endParaRPr b="0" lang="uk-UA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Box 38"/>
          <p:cNvSpPr/>
          <p:nvPr/>
        </p:nvSpPr>
        <p:spPr>
          <a:xfrm>
            <a:off x="6172200" y="3666600"/>
            <a:ext cx="1060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1" lang="en-US" sz="1600" strike="noStrike" u="none">
                <a:solidFill>
                  <a:srgbClr val="10232e"/>
                </a:solidFill>
                <a:effectLst/>
                <a:uFillTx/>
                <a:latin typeface="Bahnschrift"/>
              </a:rPr>
              <a:t>300 с</a:t>
            </a:r>
            <a:endParaRPr b="0" lang="uk-UA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Box 39"/>
          <p:cNvSpPr/>
          <p:nvPr/>
        </p:nvSpPr>
        <p:spPr>
          <a:xfrm>
            <a:off x="877680" y="3940920"/>
            <a:ext cx="17370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950" strike="noStrike" u="none">
                <a:solidFill>
                  <a:srgbClr val="087f6c"/>
                </a:solidFill>
                <a:effectLst/>
                <a:uFillTx/>
                <a:latin typeface="Cascadia Mono"/>
              </a:rPr>
              <a:t>80 мА  /  5–7 с</a:t>
            </a:r>
            <a:endParaRPr b="0" lang="uk-UA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Box 40"/>
          <p:cNvSpPr/>
          <p:nvPr/>
        </p:nvSpPr>
        <p:spPr>
          <a:xfrm>
            <a:off x="4160520" y="3940920"/>
            <a:ext cx="12798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950" strike="noStrike" u="none">
                <a:solidFill>
                  <a:srgbClr val="6c838d"/>
                </a:solidFill>
                <a:effectLst/>
                <a:uFillTx/>
                <a:latin typeface="Cascadia Mono"/>
              </a:rPr>
              <a:t>405 мкА</a:t>
            </a:r>
            <a:endParaRPr b="0" lang="uk-UA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Rounded Rectangle 41"/>
          <p:cNvSpPr/>
          <p:nvPr/>
        </p:nvSpPr>
        <p:spPr>
          <a:xfrm>
            <a:off x="877680" y="4197240"/>
            <a:ext cx="1078560" cy="310680"/>
          </a:xfrm>
          <a:prstGeom prst="roundRect">
            <a:avLst>
              <a:gd name="adj" fmla="val 12000"/>
            </a:avLst>
          </a:prstGeom>
          <a:solidFill>
            <a:srgbClr val="20c9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3" name="TextBox 42"/>
          <p:cNvSpPr/>
          <p:nvPr/>
        </p:nvSpPr>
        <p:spPr>
          <a:xfrm>
            <a:off x="877680" y="4251960"/>
            <a:ext cx="10785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900" strike="noStrike" u="none">
                <a:solidFill>
                  <a:srgbClr val="081b26"/>
                </a:solidFill>
                <a:effectLst/>
                <a:uFillTx/>
                <a:latin typeface="Cascadia Mono"/>
              </a:rPr>
              <a:t>ACTIVE</a:t>
            </a:r>
            <a:endParaRPr b="0" lang="uk-UA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Rounded Rectangle 43"/>
          <p:cNvSpPr/>
          <p:nvPr/>
        </p:nvSpPr>
        <p:spPr>
          <a:xfrm>
            <a:off x="1956960" y="4197240"/>
            <a:ext cx="4992120" cy="310680"/>
          </a:xfrm>
          <a:prstGeom prst="roundRect">
            <a:avLst>
              <a:gd name="adj" fmla="val 12000"/>
            </a:avLst>
          </a:prstGeom>
          <a:solidFill>
            <a:srgbClr val="081b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5" name="TextBox 44"/>
          <p:cNvSpPr/>
          <p:nvPr/>
        </p:nvSpPr>
        <p:spPr>
          <a:xfrm>
            <a:off x="1956960" y="4251960"/>
            <a:ext cx="49921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900" strike="noStrike" u="none">
                <a:solidFill>
                  <a:srgbClr val="f7fafa"/>
                </a:solidFill>
                <a:effectLst/>
                <a:uFillTx/>
                <a:latin typeface="Cascadia Mono"/>
              </a:rPr>
              <a:t>DEEP SLEEP  +  timer wake  +  WAKE_IRQ</a:t>
            </a:r>
            <a:endParaRPr b="0" lang="uk-UA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Box 45"/>
          <p:cNvSpPr/>
          <p:nvPr/>
        </p:nvSpPr>
        <p:spPr>
          <a:xfrm>
            <a:off x="877680" y="4809600"/>
            <a:ext cx="6318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120" strike="noStrike" u="none">
                <a:solidFill>
                  <a:srgbClr val="28424e"/>
                </a:solidFill>
                <a:effectLst/>
                <a:uFillTx/>
                <a:latin typeface="Cascadia Mono"/>
              </a:rPr>
              <a:t>INA226 power-down  •  BME280 sleep  •  SX1262 SetSleep</a:t>
            </a:r>
            <a:endParaRPr b="0" lang="uk-UA" sz="1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Box 46"/>
          <p:cNvSpPr/>
          <p:nvPr/>
        </p:nvSpPr>
        <p:spPr>
          <a:xfrm>
            <a:off x="877680" y="5157360"/>
            <a:ext cx="6126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100" strike="noStrike" u="none">
                <a:solidFill>
                  <a:srgbClr val="087f6c"/>
                </a:solidFill>
                <a:effectLst/>
                <a:uFillTx/>
                <a:latin typeface="Arial"/>
              </a:rPr>
              <a:t>Wi-Fi / BLE не запускаються в LoRa mode</a:t>
            </a:r>
            <a:endParaRPr b="0" lang="uk-UA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Rounded Rectangle 47"/>
          <p:cNvSpPr/>
          <p:nvPr/>
        </p:nvSpPr>
        <p:spPr>
          <a:xfrm>
            <a:off x="7836480" y="3438000"/>
            <a:ext cx="3730320" cy="2075400"/>
          </a:xfrm>
          <a:prstGeom prst="roundRect">
            <a:avLst>
              <a:gd name="adj" fmla="val 12000"/>
            </a:avLst>
          </a:prstGeom>
          <a:solidFill>
            <a:srgbClr val="081b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9" name="Rounded Rectangle 48"/>
          <p:cNvSpPr/>
          <p:nvPr/>
        </p:nvSpPr>
        <p:spPr>
          <a:xfrm>
            <a:off x="8119800" y="3703320"/>
            <a:ext cx="1352880" cy="292320"/>
          </a:xfrm>
          <a:prstGeom prst="roundRect">
            <a:avLst>
              <a:gd name="adj" fmla="val 12000"/>
            </a:avLst>
          </a:prstGeom>
          <a:solidFill>
            <a:srgbClr val="55be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0" name="TextBox 49"/>
          <p:cNvSpPr/>
          <p:nvPr/>
        </p:nvSpPr>
        <p:spPr>
          <a:xfrm>
            <a:off x="8119800" y="3708000"/>
            <a:ext cx="135288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900" strike="noStrike" u="none">
                <a:solidFill>
                  <a:srgbClr val="081b26"/>
                </a:solidFill>
                <a:effectLst/>
                <a:uFillTx/>
                <a:latin typeface="Arial"/>
              </a:rPr>
              <a:t>USB DETECTED</a:t>
            </a:r>
            <a:endParaRPr b="0" lang="uk-UA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Box 50"/>
          <p:cNvSpPr/>
          <p:nvPr/>
        </p:nvSpPr>
        <p:spPr>
          <a:xfrm>
            <a:off x="8119800" y="4178880"/>
            <a:ext cx="31543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000" strike="noStrike" u="none">
                <a:solidFill>
                  <a:srgbClr val="f7fafa"/>
                </a:solidFill>
                <a:effectLst/>
                <a:uFillTx/>
                <a:latin typeface="Bahnschrift"/>
              </a:rPr>
              <a:t>Continuous mode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Box 51"/>
          <p:cNvSpPr/>
          <p:nvPr/>
        </p:nvSpPr>
        <p:spPr>
          <a:xfrm>
            <a:off x="8119800" y="4636080"/>
            <a:ext cx="309024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b="0" lang="en-US" sz="1140" strike="noStrike" u="none">
                <a:solidFill>
                  <a:srgbClr val="9bb0b8"/>
                </a:solidFill>
                <a:effectLst/>
                <a:uFillTx/>
                <a:latin typeface="Arial"/>
              </a:rPr>
              <a:t>Таймерні цикли без deep sleep</a:t>
            </a:r>
            <a:endParaRPr b="0" lang="uk-UA" sz="11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140" strike="noStrike" u="none">
                <a:solidFill>
                  <a:srgbClr val="9bb0b8"/>
                </a:solidFill>
                <a:effectLst/>
                <a:uFillTx/>
                <a:latin typeface="Arial"/>
              </a:rPr>
              <a:t>GPIO ISR → task notification</a:t>
            </a:r>
            <a:endParaRPr b="0" lang="uk-UA" sz="11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</a:pPr>
            <a:r>
              <a:rPr b="0" lang="en-US" sz="1140" strike="noStrike" u="none">
                <a:solidFill>
                  <a:srgbClr val="9bb0b8"/>
                </a:solidFill>
                <a:effectLst/>
                <a:uFillTx/>
                <a:latin typeface="Arial"/>
              </a:rPr>
              <a:t>USB живий для flash / monitor</a:t>
            </a:r>
            <a:endParaRPr b="0" lang="uk-UA" sz="11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Rounded Rectangle 52"/>
          <p:cNvSpPr/>
          <p:nvPr/>
        </p:nvSpPr>
        <p:spPr>
          <a:xfrm>
            <a:off x="612720" y="5706000"/>
            <a:ext cx="10954080" cy="420120"/>
          </a:xfrm>
          <a:prstGeom prst="roundRect">
            <a:avLst>
              <a:gd name="adj" fmla="val 12000"/>
            </a:avLst>
          </a:prstGeom>
          <a:solidFill>
            <a:srgbClr val="ddf6e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4" name="TextBox 53"/>
          <p:cNvSpPr/>
          <p:nvPr/>
        </p:nvSpPr>
        <p:spPr>
          <a:xfrm>
            <a:off x="841320" y="5815440"/>
            <a:ext cx="10515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trike="noStrike" u="none">
                <a:solidFill>
                  <a:srgbClr val="087f6c"/>
                </a:solidFill>
                <a:effectLst/>
                <a:uFillTx/>
                <a:latin typeface="Cascadia Mono"/>
              </a:rPr>
              <a:t>ВИМІРЯНО НА ПЛАТІ:  </a:t>
            </a:r>
            <a:r>
              <a:rPr b="1" lang="en-US" sz="1050" strike="noStrike" u="none">
                <a:solidFill>
                  <a:srgbClr val="28424e"/>
                </a:solidFill>
                <a:effectLst/>
                <a:uFillTx/>
                <a:latin typeface="Cascadia Mono"/>
              </a:rPr>
              <a:t>активний цикл 80 мА × 5–7 с   •   deep sleep 405 мкА   •   середнє ≈ 1,2 мА у циклі 10 хв</a:t>
            </a:r>
            <a:endParaRPr b="0" lang="uk-UA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TextBox 1"/>
          <p:cNvSpPr/>
          <p:nvPr/>
        </p:nvSpPr>
        <p:spPr>
          <a:xfrm>
            <a:off x="594360" y="329040"/>
            <a:ext cx="5303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950" strike="noStrike" u="none">
                <a:solidFill>
                  <a:srgbClr val="20c9a6"/>
                </a:solidFill>
                <a:effectLst/>
                <a:uFillTx/>
                <a:latin typeface="Arial"/>
              </a:rPr>
              <a:t>06 / ПОДІЄВА ОБРОБКА</a:t>
            </a:r>
            <a:endParaRPr b="0" lang="uk-UA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Box 2"/>
          <p:cNvSpPr/>
          <p:nvPr/>
        </p:nvSpPr>
        <p:spPr>
          <a:xfrm>
            <a:off x="594360" y="658440"/>
            <a:ext cx="109724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f7fafa"/>
                </a:solidFill>
                <a:effectLst/>
                <a:uFillTx/>
                <a:latin typeface="Bahnschrift"/>
              </a:rPr>
              <a:t>Блискавка: окремий швидкий сценарій</a:t>
            </a:r>
            <a:endParaRPr b="0" lang="uk-UA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Box 3"/>
          <p:cNvSpPr/>
          <p:nvPr/>
        </p:nvSpPr>
        <p:spPr>
          <a:xfrm>
            <a:off x="612720" y="1225440"/>
            <a:ext cx="10789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250" strike="noStrike" u="none">
                <a:solidFill>
                  <a:srgbClr val="9bb0b8"/>
                </a:solidFill>
                <a:effectLst/>
                <a:uFillTx/>
                <a:latin typeface="Arial"/>
              </a:rPr>
              <a:t>Подія не чекає наступного періодичного вимірювання.</a:t>
            </a:r>
            <a:endParaRPr b="0" lang="uk-UA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Box 4"/>
          <p:cNvSpPr/>
          <p:nvPr/>
        </p:nvSpPr>
        <p:spPr>
          <a:xfrm>
            <a:off x="603360" y="6537960"/>
            <a:ext cx="53031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850" strike="noStrike" u="none">
                <a:solidFill>
                  <a:srgbClr val="9bb0b8"/>
                </a:solidFill>
                <a:effectLst/>
                <a:uFillTx/>
                <a:latin typeface="Arial"/>
              </a:rPr>
              <a:t>METEOSTATION  /  ФІНАЛЬНИЙ ПРОЄКТ</a:t>
            </a:r>
            <a:endParaRPr b="0" lang="uk-UA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Box 5"/>
          <p:cNvSpPr/>
          <p:nvPr/>
        </p:nvSpPr>
        <p:spPr>
          <a:xfrm>
            <a:off x="11109960" y="6473880"/>
            <a:ext cx="475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1" lang="en-US" sz="1000" strike="noStrike" u="none">
                <a:solidFill>
                  <a:srgbClr val="9bb0b8"/>
                </a:solidFill>
                <a:effectLst/>
                <a:uFillTx/>
                <a:latin typeface="Cascadia Mono"/>
              </a:rPr>
              <a:t>10</a:t>
            </a:r>
            <a:endParaRPr b="0" lang="uk-UA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400" name="Connector 6"/>
          <p:cNvCxnSpPr/>
          <p:nvPr/>
        </p:nvCxnSpPr>
        <p:spPr>
          <a:xfrm>
            <a:off x="594360" y="6391440"/>
            <a:ext cx="11000520" cy="360"/>
          </a:xfrm>
          <a:prstGeom prst="straightConnector1">
            <a:avLst/>
          </a:prstGeom>
          <a:ln w="10160">
            <a:solidFill>
              <a:srgbClr val="28434d"/>
            </a:solidFill>
            <a:round/>
          </a:ln>
        </p:spPr>
      </p:cxnSp>
      <p:sp>
        <p:nvSpPr>
          <p:cNvPr id="401" name="Rounded Rectangle 7"/>
          <p:cNvSpPr/>
          <p:nvPr/>
        </p:nvSpPr>
        <p:spPr>
          <a:xfrm>
            <a:off x="658440" y="1865520"/>
            <a:ext cx="1755360" cy="1133640"/>
          </a:xfrm>
          <a:prstGeom prst="roundRect">
            <a:avLst>
              <a:gd name="adj" fmla="val 12000"/>
            </a:avLst>
          </a:prstGeom>
          <a:solidFill>
            <a:srgbClr val="0d2633"/>
          </a:solidFill>
          <a:ln w="12700">
            <a:solidFill>
              <a:srgbClr val="f0b95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2" name="TextBox 8"/>
          <p:cNvSpPr/>
          <p:nvPr/>
        </p:nvSpPr>
        <p:spPr>
          <a:xfrm>
            <a:off x="786240" y="2121480"/>
            <a:ext cx="1499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1200" strike="noStrike" u="none">
                <a:solidFill>
                  <a:srgbClr val="f0b95b"/>
                </a:solidFill>
                <a:effectLst/>
                <a:uFillTx/>
                <a:latin typeface="Cascadia Mono"/>
              </a:rPr>
              <a:t>AS3935</a:t>
            </a:r>
            <a:endParaRPr b="0" lang="uk-UA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Box 9"/>
          <p:cNvSpPr/>
          <p:nvPr/>
        </p:nvSpPr>
        <p:spPr>
          <a:xfrm>
            <a:off x="749880" y="2487240"/>
            <a:ext cx="15724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1250" strike="noStrike" u="none">
                <a:solidFill>
                  <a:srgbClr val="f7fafa"/>
                </a:solidFill>
                <a:effectLst/>
                <a:uFillTx/>
                <a:latin typeface="Bahnschrift"/>
              </a:rPr>
              <a:t>IRQ</a:t>
            </a:r>
            <a:endParaRPr b="0" lang="uk-UA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404" name="Connector 10"/>
          <p:cNvCxnSpPr/>
          <p:nvPr/>
        </p:nvCxnSpPr>
        <p:spPr>
          <a:xfrm>
            <a:off x="2413800" y="2432160"/>
            <a:ext cx="430200" cy="360"/>
          </a:xfrm>
          <a:prstGeom prst="straightConnector1">
            <a:avLst/>
          </a:prstGeom>
          <a:ln w="16510">
            <a:solidFill>
              <a:srgbClr val="9bb0b8"/>
            </a:solidFill>
            <a:round/>
          </a:ln>
        </p:spPr>
      </p:cxnSp>
      <p:sp>
        <p:nvSpPr>
          <p:cNvPr id="405" name="Rounded Rectangle 11"/>
          <p:cNvSpPr/>
          <p:nvPr/>
        </p:nvSpPr>
        <p:spPr>
          <a:xfrm>
            <a:off x="2917080" y="1865520"/>
            <a:ext cx="1755360" cy="1133640"/>
          </a:xfrm>
          <a:prstGeom prst="roundRect">
            <a:avLst>
              <a:gd name="adj" fmla="val 12000"/>
            </a:avLst>
          </a:prstGeom>
          <a:solidFill>
            <a:srgbClr val="0d2633"/>
          </a:solidFill>
          <a:ln w="12700">
            <a:solidFill>
              <a:srgbClr val="f0b95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6" name="TextBox 12"/>
          <p:cNvSpPr/>
          <p:nvPr/>
        </p:nvSpPr>
        <p:spPr>
          <a:xfrm>
            <a:off x="3044880" y="2121480"/>
            <a:ext cx="1499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1200" strike="noStrike" u="none">
                <a:solidFill>
                  <a:srgbClr val="f0b95b"/>
                </a:solidFill>
                <a:effectLst/>
                <a:uFillTx/>
                <a:latin typeface="Cascadia Mono"/>
              </a:rPr>
              <a:t>GPIO1</a:t>
            </a:r>
            <a:endParaRPr b="0" lang="uk-UA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Box 13"/>
          <p:cNvSpPr/>
          <p:nvPr/>
        </p:nvSpPr>
        <p:spPr>
          <a:xfrm>
            <a:off x="3008520" y="2487240"/>
            <a:ext cx="15724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1250" strike="noStrike" u="none">
                <a:solidFill>
                  <a:srgbClr val="f7fafa"/>
                </a:solidFill>
                <a:effectLst/>
                <a:uFillTx/>
                <a:latin typeface="Bahnschrift"/>
              </a:rPr>
              <a:t>WAKE_IRQ</a:t>
            </a:r>
            <a:endParaRPr b="0" lang="uk-UA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408" name="Connector 14"/>
          <p:cNvCxnSpPr/>
          <p:nvPr/>
        </p:nvCxnSpPr>
        <p:spPr>
          <a:xfrm>
            <a:off x="4672440" y="2432160"/>
            <a:ext cx="430200" cy="360"/>
          </a:xfrm>
          <a:prstGeom prst="straightConnector1">
            <a:avLst/>
          </a:prstGeom>
          <a:ln w="16510">
            <a:solidFill>
              <a:srgbClr val="9bb0b8"/>
            </a:solidFill>
            <a:round/>
          </a:ln>
        </p:spPr>
      </p:cxnSp>
      <p:sp>
        <p:nvSpPr>
          <p:cNvPr id="409" name="Rounded Rectangle 15"/>
          <p:cNvSpPr/>
          <p:nvPr/>
        </p:nvSpPr>
        <p:spPr>
          <a:xfrm>
            <a:off x="5175360" y="1865520"/>
            <a:ext cx="1755360" cy="1133640"/>
          </a:xfrm>
          <a:prstGeom prst="roundRect">
            <a:avLst>
              <a:gd name="adj" fmla="val 12000"/>
            </a:avLst>
          </a:prstGeom>
          <a:solidFill>
            <a:srgbClr val="0d2633"/>
          </a:solidFill>
          <a:ln w="12700">
            <a:solidFill>
              <a:srgbClr val="20c9a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0" name="TextBox 16"/>
          <p:cNvSpPr/>
          <p:nvPr/>
        </p:nvSpPr>
        <p:spPr>
          <a:xfrm>
            <a:off x="5303520" y="2121480"/>
            <a:ext cx="1499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1200" strike="noStrike" u="none">
                <a:solidFill>
                  <a:srgbClr val="20c9a6"/>
                </a:solidFill>
                <a:effectLst/>
                <a:uFillTx/>
                <a:latin typeface="Cascadia Mono"/>
              </a:rPr>
              <a:t>SERVICE</a:t>
            </a:r>
            <a:endParaRPr b="0" lang="uk-UA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Box 17"/>
          <p:cNvSpPr/>
          <p:nvPr/>
        </p:nvSpPr>
        <p:spPr>
          <a:xfrm>
            <a:off x="5266800" y="2487240"/>
            <a:ext cx="15724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1250" strike="noStrike" u="none">
                <a:solidFill>
                  <a:srgbClr val="f7fafa"/>
                </a:solidFill>
                <a:effectLst/>
                <a:uFillTx/>
                <a:latin typeface="Bahnschrift"/>
              </a:rPr>
              <a:t>reason?</a:t>
            </a:r>
            <a:endParaRPr b="0" lang="uk-UA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412" name="Connector 18"/>
          <p:cNvCxnSpPr/>
          <p:nvPr/>
        </p:nvCxnSpPr>
        <p:spPr>
          <a:xfrm>
            <a:off x="6931080" y="2432160"/>
            <a:ext cx="430200" cy="360"/>
          </a:xfrm>
          <a:prstGeom prst="straightConnector1">
            <a:avLst/>
          </a:prstGeom>
          <a:ln w="16510">
            <a:solidFill>
              <a:srgbClr val="9bb0b8"/>
            </a:solidFill>
            <a:round/>
          </a:ln>
        </p:spPr>
      </p:cxnSp>
      <p:sp>
        <p:nvSpPr>
          <p:cNvPr id="413" name="Rounded Rectangle 19"/>
          <p:cNvSpPr/>
          <p:nvPr/>
        </p:nvSpPr>
        <p:spPr>
          <a:xfrm>
            <a:off x="7434000" y="1865520"/>
            <a:ext cx="1755360" cy="1133640"/>
          </a:xfrm>
          <a:prstGeom prst="roundRect">
            <a:avLst>
              <a:gd name="adj" fmla="val 12000"/>
            </a:avLst>
          </a:prstGeom>
          <a:solidFill>
            <a:srgbClr val="0d2633"/>
          </a:solidFill>
          <a:ln w="12700">
            <a:solidFill>
              <a:srgbClr val="20c9a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4" name="TextBox 20"/>
          <p:cNvSpPr/>
          <p:nvPr/>
        </p:nvSpPr>
        <p:spPr>
          <a:xfrm>
            <a:off x="7562160" y="2121480"/>
            <a:ext cx="1499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1200" strike="noStrike" u="none">
                <a:solidFill>
                  <a:srgbClr val="20c9a6"/>
                </a:solidFill>
                <a:effectLst/>
                <a:uFillTx/>
                <a:latin typeface="Cascadia Mono"/>
              </a:rPr>
              <a:t>CODEC</a:t>
            </a:r>
            <a:endParaRPr b="0" lang="uk-UA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Box 21"/>
          <p:cNvSpPr/>
          <p:nvPr/>
        </p:nvSpPr>
        <p:spPr>
          <a:xfrm>
            <a:off x="7525440" y="2487240"/>
            <a:ext cx="15724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1250" strike="noStrike" u="none">
                <a:solidFill>
                  <a:srgbClr val="f7fafa"/>
                </a:solidFill>
                <a:effectLst/>
                <a:uFillTx/>
                <a:latin typeface="Bahnschrift"/>
              </a:rPr>
              <a:t>distance + energy</a:t>
            </a:r>
            <a:endParaRPr b="0" lang="uk-UA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416" name="Connector 22"/>
          <p:cNvCxnSpPr/>
          <p:nvPr/>
        </p:nvCxnSpPr>
        <p:spPr>
          <a:xfrm>
            <a:off x="9189720" y="2432160"/>
            <a:ext cx="429840" cy="360"/>
          </a:xfrm>
          <a:prstGeom prst="straightConnector1">
            <a:avLst/>
          </a:prstGeom>
          <a:ln w="16510">
            <a:solidFill>
              <a:srgbClr val="9bb0b8"/>
            </a:solidFill>
            <a:round/>
          </a:ln>
        </p:spPr>
      </p:cxnSp>
      <p:sp>
        <p:nvSpPr>
          <p:cNvPr id="417" name="Rounded Rectangle 23"/>
          <p:cNvSpPr/>
          <p:nvPr/>
        </p:nvSpPr>
        <p:spPr>
          <a:xfrm>
            <a:off x="9692640" y="1865520"/>
            <a:ext cx="1755360" cy="1133640"/>
          </a:xfrm>
          <a:prstGeom prst="roundRect">
            <a:avLst>
              <a:gd name="adj" fmla="val 12000"/>
            </a:avLst>
          </a:prstGeom>
          <a:solidFill>
            <a:srgbClr val="0d2633"/>
          </a:solidFill>
          <a:ln w="12700">
            <a:solidFill>
              <a:srgbClr val="55be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8" name="TextBox 24"/>
          <p:cNvSpPr/>
          <p:nvPr/>
        </p:nvSpPr>
        <p:spPr>
          <a:xfrm>
            <a:off x="9820800" y="2121480"/>
            <a:ext cx="1499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1200" strike="noStrike" u="none">
                <a:solidFill>
                  <a:srgbClr val="55bef0"/>
                </a:solidFill>
                <a:effectLst/>
                <a:uFillTx/>
                <a:latin typeface="Cascadia Mono"/>
              </a:rPr>
              <a:t>TX</a:t>
            </a:r>
            <a:endParaRPr b="0" lang="uk-UA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Box 25"/>
          <p:cNvSpPr/>
          <p:nvPr/>
        </p:nvSpPr>
        <p:spPr>
          <a:xfrm>
            <a:off x="9784080" y="2487240"/>
            <a:ext cx="15724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1250" strike="noStrike" u="none">
                <a:solidFill>
                  <a:srgbClr val="f7fafa"/>
                </a:solidFill>
                <a:effectLst/>
                <a:uFillTx/>
                <a:latin typeface="Bahnschrift"/>
              </a:rPr>
              <a:t>MQTT / LoRa</a:t>
            </a:r>
            <a:endParaRPr b="0" lang="uk-UA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0" name="Rounded Rectangle 26"/>
          <p:cNvSpPr/>
          <p:nvPr/>
        </p:nvSpPr>
        <p:spPr>
          <a:xfrm>
            <a:off x="658440" y="3456360"/>
            <a:ext cx="6976440" cy="2148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1" name="TextBox 27"/>
          <p:cNvSpPr/>
          <p:nvPr/>
        </p:nvSpPr>
        <p:spPr>
          <a:xfrm>
            <a:off x="932760" y="3721680"/>
            <a:ext cx="3062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000" strike="noStrike" u="none">
                <a:solidFill>
                  <a:srgbClr val="087f6c"/>
                </a:solidFill>
                <a:effectLst/>
                <a:uFillTx/>
                <a:latin typeface="Arial"/>
              </a:rPr>
              <a:t>ВАЛІДАЦІЯ ПЕРЕРИВАННЯ</a:t>
            </a:r>
            <a:endParaRPr b="0" lang="uk-UA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2" name="TextBox 28"/>
          <p:cNvSpPr/>
          <p:nvPr/>
        </p:nvSpPr>
        <p:spPr>
          <a:xfrm>
            <a:off x="932760" y="4142160"/>
            <a:ext cx="3108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000" strike="noStrike" u="none">
                <a:solidFill>
                  <a:srgbClr val="10232e"/>
                </a:solidFill>
                <a:effectLst/>
                <a:uFillTx/>
                <a:latin typeface="Cascadia Mono"/>
              </a:rPr>
              <a:t>reason == lightning?</a:t>
            </a:r>
            <a:endParaRPr b="0" lang="uk-UA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3" name="Rounded Rectangle 29"/>
          <p:cNvSpPr/>
          <p:nvPr/>
        </p:nvSpPr>
        <p:spPr>
          <a:xfrm>
            <a:off x="4352400" y="4123800"/>
            <a:ext cx="1234080" cy="292320"/>
          </a:xfrm>
          <a:prstGeom prst="roundRect">
            <a:avLst>
              <a:gd name="adj" fmla="val 12000"/>
            </a:avLst>
          </a:prstGeom>
          <a:solidFill>
            <a:srgbClr val="20c9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4" name="TextBox 30"/>
          <p:cNvSpPr/>
          <p:nvPr/>
        </p:nvSpPr>
        <p:spPr>
          <a:xfrm>
            <a:off x="4352400" y="4128480"/>
            <a:ext cx="123408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950" strike="noStrike" u="none">
                <a:solidFill>
                  <a:srgbClr val="081b26"/>
                </a:solidFill>
                <a:effectLst/>
                <a:uFillTx/>
                <a:latin typeface="Arial"/>
              </a:rPr>
              <a:t>ТАК → ПОДІЯ</a:t>
            </a:r>
            <a:endParaRPr b="0" lang="uk-UA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5" name="Rounded Rectangle 31"/>
          <p:cNvSpPr/>
          <p:nvPr/>
        </p:nvSpPr>
        <p:spPr>
          <a:xfrm>
            <a:off x="5715000" y="4123800"/>
            <a:ext cx="1352880" cy="292320"/>
          </a:xfrm>
          <a:prstGeom prst="roundRect">
            <a:avLst>
              <a:gd name="adj" fmla="val 12000"/>
            </a:avLst>
          </a:prstGeom>
          <a:solidFill>
            <a:srgbClr val="fff1d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6" name="TextBox 32"/>
          <p:cNvSpPr/>
          <p:nvPr/>
        </p:nvSpPr>
        <p:spPr>
          <a:xfrm>
            <a:off x="5715000" y="4128480"/>
            <a:ext cx="135288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950" strike="noStrike" u="none">
                <a:solidFill>
                  <a:srgbClr val="28424e"/>
                </a:solidFill>
                <a:effectLst/>
                <a:uFillTx/>
                <a:latin typeface="Arial"/>
              </a:rPr>
              <a:t>НІ → БЕЗ TX</a:t>
            </a:r>
            <a:endParaRPr b="0" lang="uk-UA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Box 33"/>
          <p:cNvSpPr/>
          <p:nvPr/>
        </p:nvSpPr>
        <p:spPr>
          <a:xfrm>
            <a:off x="932760" y="4910400"/>
            <a:ext cx="619920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250" strike="noStrike" u="none">
                <a:solidFill>
                  <a:srgbClr val="28424e"/>
                </a:solidFill>
                <a:effectLst/>
                <a:uFillTx/>
                <a:latin typeface="Arial"/>
              </a:rPr>
              <a:t>Disturber / noise не створюють хибну подію блискавки.</a:t>
            </a:r>
            <a:endParaRPr b="0" lang="uk-UA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8" name="Rounded Rectangle 34"/>
          <p:cNvSpPr/>
          <p:nvPr/>
        </p:nvSpPr>
        <p:spPr>
          <a:xfrm>
            <a:off x="7900560" y="3456360"/>
            <a:ext cx="3638880" cy="2148480"/>
          </a:xfrm>
          <a:prstGeom prst="roundRect">
            <a:avLst>
              <a:gd name="adj" fmla="val 12000"/>
            </a:avLst>
          </a:prstGeom>
          <a:solidFill>
            <a:srgbClr val="0d2633"/>
          </a:solidFill>
          <a:ln w="12700">
            <a:solidFill>
              <a:srgbClr val="28434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9" name="TextBox 35"/>
          <p:cNvSpPr/>
          <p:nvPr/>
        </p:nvSpPr>
        <p:spPr>
          <a:xfrm>
            <a:off x="8192880" y="3721680"/>
            <a:ext cx="2971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000" strike="noStrike" u="none">
                <a:solidFill>
                  <a:srgbClr val="20c9a6"/>
                </a:solidFill>
                <a:effectLst/>
                <a:uFillTx/>
                <a:latin typeface="Arial"/>
              </a:rPr>
              <a:t>МІНІМАЛЬНИЙ ШЛЯХ</a:t>
            </a:r>
            <a:endParaRPr b="0" lang="uk-UA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0" name="TextBox 36"/>
          <p:cNvSpPr/>
          <p:nvPr/>
        </p:nvSpPr>
        <p:spPr>
          <a:xfrm>
            <a:off x="8192880" y="414216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200" strike="noStrike" u="none">
                <a:solidFill>
                  <a:srgbClr val="9bb0b8"/>
                </a:solidFill>
                <a:effectLst/>
                <a:uFillTx/>
                <a:latin typeface="Arial"/>
              </a:rPr>
              <a:t>Читаємо:</a:t>
            </a:r>
            <a:endParaRPr b="0" lang="uk-UA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1" name="TextBox 37"/>
          <p:cNvSpPr/>
          <p:nvPr/>
        </p:nvSpPr>
        <p:spPr>
          <a:xfrm>
            <a:off x="9171360" y="4142160"/>
            <a:ext cx="1919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trike="noStrike" u="none">
                <a:solidFill>
                  <a:srgbClr val="f7fafa"/>
                </a:solidFill>
                <a:effectLst/>
                <a:uFillTx/>
                <a:latin typeface="Cascadia Mono"/>
              </a:rPr>
              <a:t>RTC + AS3935</a:t>
            </a:r>
            <a:endParaRPr b="0" lang="uk-UA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Box 38"/>
          <p:cNvSpPr/>
          <p:nvPr/>
        </p:nvSpPr>
        <p:spPr>
          <a:xfrm>
            <a:off x="8192880" y="4608720"/>
            <a:ext cx="1206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200" strike="noStrike" u="none">
                <a:solidFill>
                  <a:srgbClr val="9bb0b8"/>
                </a:solidFill>
                <a:effectLst/>
                <a:uFillTx/>
                <a:latin typeface="Arial"/>
              </a:rPr>
              <a:t>Не читаємо:</a:t>
            </a:r>
            <a:endParaRPr b="0" lang="uk-UA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Box 39"/>
          <p:cNvSpPr/>
          <p:nvPr/>
        </p:nvSpPr>
        <p:spPr>
          <a:xfrm>
            <a:off x="9399960" y="4608720"/>
            <a:ext cx="1846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trike="noStrike" u="none">
                <a:solidFill>
                  <a:srgbClr val="f7fafa"/>
                </a:solidFill>
                <a:effectLst/>
                <a:uFillTx/>
                <a:latin typeface="Cascadia Mono"/>
              </a:rPr>
              <a:t>BME280 / INA226</a:t>
            </a:r>
            <a:endParaRPr b="0" lang="uk-UA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Box 40"/>
          <p:cNvSpPr/>
          <p:nvPr/>
        </p:nvSpPr>
        <p:spPr>
          <a:xfrm>
            <a:off x="8192880" y="5120640"/>
            <a:ext cx="29530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120" strike="noStrike" u="none">
                <a:solidFill>
                  <a:srgbClr val="20c9a6"/>
                </a:solidFill>
                <a:effectLst/>
                <a:uFillTx/>
                <a:latin typeface="Arial"/>
              </a:rPr>
              <a:t>Після TX → одразу low-power → sleep</a:t>
            </a:r>
            <a:endParaRPr b="0" lang="uk-UA" sz="11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TextBox 1"/>
          <p:cNvSpPr/>
          <p:nvPr/>
        </p:nvSpPr>
        <p:spPr>
          <a:xfrm>
            <a:off x="594360" y="329040"/>
            <a:ext cx="5303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950" strike="noStrike" u="none">
                <a:solidFill>
                  <a:srgbClr val="087f6c"/>
                </a:solidFill>
                <a:effectLst/>
                <a:uFillTx/>
                <a:latin typeface="Arial"/>
              </a:rPr>
              <a:t>07 / ЗВ’ЯЗОК</a:t>
            </a:r>
            <a:endParaRPr b="0" lang="uk-UA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TextBox 2"/>
          <p:cNvSpPr/>
          <p:nvPr/>
        </p:nvSpPr>
        <p:spPr>
          <a:xfrm>
            <a:off x="594360" y="658440"/>
            <a:ext cx="109724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0232e"/>
                </a:solidFill>
                <a:effectLst/>
                <a:uFillTx/>
                <a:latin typeface="Bahnschrift"/>
              </a:rPr>
              <a:t>J4 — явний вибір транспорту</a:t>
            </a:r>
            <a:endParaRPr b="0" lang="uk-U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Box 3"/>
          <p:cNvSpPr/>
          <p:nvPr/>
        </p:nvSpPr>
        <p:spPr>
          <a:xfrm>
            <a:off x="612720" y="1225440"/>
            <a:ext cx="10789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250" strike="noStrike" u="none">
                <a:solidFill>
                  <a:srgbClr val="6c838d"/>
                </a:solidFill>
                <a:effectLst/>
                <a:uFillTx/>
                <a:latin typeface="Arial"/>
              </a:rPr>
              <a:t>Немає прихованого automatic fallback: режим визначає апаратний перемикач.</a:t>
            </a:r>
            <a:endParaRPr b="0" lang="uk-UA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Box 4"/>
          <p:cNvSpPr/>
          <p:nvPr/>
        </p:nvSpPr>
        <p:spPr>
          <a:xfrm>
            <a:off x="603360" y="6537960"/>
            <a:ext cx="53031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850" strike="noStrike" u="none">
                <a:solidFill>
                  <a:srgbClr val="6c838d"/>
                </a:solidFill>
                <a:effectLst/>
                <a:uFillTx/>
                <a:latin typeface="Arial"/>
              </a:rPr>
              <a:t>METEOSTATION  /  ФІНАЛЬНИЙ ПРОЄКТ</a:t>
            </a:r>
            <a:endParaRPr b="0" lang="uk-UA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Box 5"/>
          <p:cNvSpPr/>
          <p:nvPr/>
        </p:nvSpPr>
        <p:spPr>
          <a:xfrm>
            <a:off x="11109960" y="6473880"/>
            <a:ext cx="475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1" lang="en-US" sz="1000" strike="noStrike" u="none">
                <a:solidFill>
                  <a:srgbClr val="6c838d"/>
                </a:solidFill>
                <a:effectLst/>
                <a:uFillTx/>
                <a:latin typeface="Cascadia Mono"/>
              </a:rPr>
              <a:t>11</a:t>
            </a:r>
            <a:endParaRPr b="0" lang="uk-UA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40" name="Connector 6"/>
          <p:cNvCxnSpPr/>
          <p:nvPr/>
        </p:nvCxnSpPr>
        <p:spPr>
          <a:xfrm>
            <a:off x="594360" y="6391440"/>
            <a:ext cx="11000520" cy="360"/>
          </a:xfrm>
          <a:prstGeom prst="straightConnector1">
            <a:avLst/>
          </a:prstGeom>
          <a:ln w="10160">
            <a:solidFill>
              <a:srgbClr val="d8e3e2"/>
            </a:solidFill>
            <a:round/>
          </a:ln>
        </p:spPr>
      </p:cxnSp>
      <p:sp>
        <p:nvSpPr>
          <p:cNvPr id="441" name="Rounded Rectangle 7"/>
          <p:cNvSpPr/>
          <p:nvPr/>
        </p:nvSpPr>
        <p:spPr>
          <a:xfrm>
            <a:off x="612720" y="1755720"/>
            <a:ext cx="5275800" cy="4141800"/>
          </a:xfrm>
          <a:prstGeom prst="roundRect">
            <a:avLst>
              <a:gd name="adj" fmla="val 12000"/>
            </a:avLst>
          </a:prstGeom>
          <a:solidFill>
            <a:srgbClr val="081b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2" name="Rounded Rectangle 8"/>
          <p:cNvSpPr/>
          <p:nvPr/>
        </p:nvSpPr>
        <p:spPr>
          <a:xfrm>
            <a:off x="905400" y="2030040"/>
            <a:ext cx="1462680" cy="292320"/>
          </a:xfrm>
          <a:prstGeom prst="roundRect">
            <a:avLst>
              <a:gd name="adj" fmla="val 12000"/>
            </a:avLst>
          </a:prstGeom>
          <a:solidFill>
            <a:srgbClr val="20c9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3" name="TextBox 9"/>
          <p:cNvSpPr/>
          <p:nvPr/>
        </p:nvSpPr>
        <p:spPr>
          <a:xfrm>
            <a:off x="905400" y="2034720"/>
            <a:ext cx="146268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1000" strike="noStrike" u="none">
                <a:solidFill>
                  <a:srgbClr val="081b26"/>
                </a:solidFill>
                <a:effectLst/>
                <a:uFillTx/>
                <a:latin typeface="Arial"/>
              </a:rPr>
              <a:t>J4 OPEN / HIGH</a:t>
            </a:r>
            <a:endParaRPr b="0" lang="uk-UA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TextBox 10"/>
          <p:cNvSpPr/>
          <p:nvPr/>
        </p:nvSpPr>
        <p:spPr>
          <a:xfrm>
            <a:off x="905400" y="257868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900" strike="noStrike" u="none">
                <a:solidFill>
                  <a:srgbClr val="f7fafa"/>
                </a:solidFill>
                <a:effectLst/>
                <a:uFillTx/>
                <a:latin typeface="Bahnschrift"/>
              </a:rPr>
              <a:t>LoRa</a:t>
            </a:r>
            <a:endParaRPr b="0" lang="uk-UA" sz="2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Box 11"/>
          <p:cNvSpPr/>
          <p:nvPr/>
        </p:nvSpPr>
        <p:spPr>
          <a:xfrm>
            <a:off x="905400" y="3099960"/>
            <a:ext cx="3474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400" strike="noStrike" u="none">
                <a:solidFill>
                  <a:srgbClr val="20c9a6"/>
                </a:solidFill>
                <a:effectLst/>
                <a:uFillTx/>
                <a:latin typeface="Arial"/>
              </a:rPr>
              <a:t>Енергоощадний default</a:t>
            </a:r>
            <a:endParaRPr b="0" lang="uk-UA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TextBox 12"/>
          <p:cNvSpPr/>
          <p:nvPr/>
        </p:nvSpPr>
        <p:spPr>
          <a:xfrm>
            <a:off x="905400" y="3620880"/>
            <a:ext cx="4498560" cy="169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  <a:spcAft>
                <a:spcPts val="799"/>
              </a:spcAft>
            </a:pPr>
            <a:r>
              <a:rPr b="1" lang="en-US" sz="1250" strike="noStrike" u="none">
                <a:solidFill>
                  <a:srgbClr val="20c9a6"/>
                </a:solidFill>
                <a:effectLst/>
                <a:uFillTx/>
                <a:latin typeface="Arial"/>
              </a:rPr>
              <a:t>•  </a:t>
            </a:r>
            <a:r>
              <a:rPr b="0" lang="en-US" sz="1250" strike="noStrike" u="none">
                <a:solidFill>
                  <a:srgbClr val="9bb0b8"/>
                </a:solidFill>
                <a:effectLst/>
                <a:uFillTx/>
                <a:latin typeface="Arial"/>
              </a:rPr>
              <a:t>SX1262 / E22-900M22S</a:t>
            </a:r>
            <a:endParaRPr b="0" lang="uk-UA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99"/>
              </a:spcAft>
            </a:pPr>
            <a:r>
              <a:rPr b="1" lang="en-US" sz="1250" strike="noStrike" u="none">
                <a:solidFill>
                  <a:srgbClr val="20c9a6"/>
                </a:solidFill>
                <a:effectLst/>
                <a:uFillTx/>
                <a:latin typeface="Arial"/>
              </a:rPr>
              <a:t>•  </a:t>
            </a:r>
            <a:r>
              <a:rPr b="0" lang="en-US" sz="1250" strike="noStrike" u="none">
                <a:solidFill>
                  <a:srgbClr val="9bb0b8"/>
                </a:solidFill>
                <a:effectLst/>
                <a:uFillTx/>
                <a:latin typeface="Arial"/>
              </a:rPr>
              <a:t>868.1 MHz • SF7 • BW 125 kHz</a:t>
            </a:r>
            <a:endParaRPr b="0" lang="uk-UA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99"/>
              </a:spcAft>
            </a:pPr>
            <a:r>
              <a:rPr b="1" lang="en-US" sz="1250" strike="noStrike" u="none">
                <a:solidFill>
                  <a:srgbClr val="20c9a6"/>
                </a:solidFill>
                <a:effectLst/>
                <a:uFillTx/>
                <a:latin typeface="Arial"/>
              </a:rPr>
              <a:t>•  </a:t>
            </a:r>
            <a:r>
              <a:rPr b="0" lang="en-US" sz="1250" strike="noStrike" u="none">
                <a:solidFill>
                  <a:srgbClr val="9bb0b8"/>
                </a:solidFill>
                <a:effectLst/>
                <a:uFillTx/>
                <a:latin typeface="Arial"/>
              </a:rPr>
              <a:t>14 dBm • TX timeout 5 s</a:t>
            </a:r>
            <a:endParaRPr b="0" lang="uk-UA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99"/>
              </a:spcAft>
            </a:pPr>
            <a:r>
              <a:rPr b="1" lang="en-US" sz="1250" strike="noStrike" u="none">
                <a:solidFill>
                  <a:srgbClr val="20c9a6"/>
                </a:solidFill>
                <a:effectLst/>
                <a:uFillTx/>
                <a:latin typeface="Arial"/>
              </a:rPr>
              <a:t>•  </a:t>
            </a:r>
            <a:r>
              <a:rPr b="0" lang="en-US" sz="1250" strike="noStrike" u="none">
                <a:solidFill>
                  <a:srgbClr val="9bb0b8"/>
                </a:solidFill>
                <a:effectLst/>
                <a:uFillTx/>
                <a:latin typeface="Arial"/>
              </a:rPr>
              <a:t>TX-only: без RX / ACK / retries</a:t>
            </a:r>
            <a:endParaRPr b="0" lang="uk-UA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99"/>
              </a:spcAft>
            </a:pPr>
            <a:r>
              <a:rPr b="1" lang="en-US" sz="1250" strike="noStrike" u="none">
                <a:solidFill>
                  <a:srgbClr val="20c9a6"/>
                </a:solidFill>
                <a:effectLst/>
                <a:uFillTx/>
                <a:latin typeface="Arial"/>
              </a:rPr>
              <a:t>•  </a:t>
            </a:r>
            <a:r>
              <a:rPr b="0" lang="en-US" sz="1250" strike="noStrike" u="none">
                <a:solidFill>
                  <a:srgbClr val="9bb0b8"/>
                </a:solidFill>
                <a:effectLst/>
                <a:uFillTx/>
                <a:latin typeface="Arial"/>
              </a:rPr>
              <a:t>binary little-endian, versioned</a:t>
            </a:r>
            <a:endParaRPr b="0" lang="uk-UA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Rounded Rectangle 13"/>
          <p:cNvSpPr/>
          <p:nvPr/>
        </p:nvSpPr>
        <p:spPr>
          <a:xfrm>
            <a:off x="905400" y="5413320"/>
            <a:ext cx="2514240" cy="292320"/>
          </a:xfrm>
          <a:prstGeom prst="roundRect">
            <a:avLst>
              <a:gd name="adj" fmla="val 12000"/>
            </a:avLst>
          </a:prstGeom>
          <a:solidFill>
            <a:srgbClr val="0d2633"/>
          </a:solidFill>
          <a:ln w="12700">
            <a:solidFill>
              <a:srgbClr val="28434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8" name="TextBox 14"/>
          <p:cNvSpPr/>
          <p:nvPr/>
        </p:nvSpPr>
        <p:spPr>
          <a:xfrm>
            <a:off x="905400" y="5418000"/>
            <a:ext cx="251424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900" strike="noStrike" u="none">
                <a:solidFill>
                  <a:srgbClr val="20c9a6"/>
                </a:solidFill>
                <a:effectLst/>
                <a:uFillTx/>
                <a:latin typeface="Arial"/>
              </a:rPr>
              <a:t>Wi-Fi / BLE НЕ ЗАПУСКАЮТЬСЯ</a:t>
            </a:r>
            <a:endParaRPr b="0" lang="uk-UA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Rounded Rectangle 15"/>
          <p:cNvSpPr/>
          <p:nvPr/>
        </p:nvSpPr>
        <p:spPr>
          <a:xfrm>
            <a:off x="6172200" y="1755720"/>
            <a:ext cx="5394600" cy="4141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0" name="Rounded Rectangle 16"/>
          <p:cNvSpPr/>
          <p:nvPr/>
        </p:nvSpPr>
        <p:spPr>
          <a:xfrm>
            <a:off x="6464880" y="2030040"/>
            <a:ext cx="1599840" cy="292320"/>
          </a:xfrm>
          <a:prstGeom prst="roundRect">
            <a:avLst>
              <a:gd name="adj" fmla="val 12000"/>
            </a:avLst>
          </a:prstGeom>
          <a:solidFill>
            <a:srgbClr val="55be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1" name="TextBox 17"/>
          <p:cNvSpPr/>
          <p:nvPr/>
        </p:nvSpPr>
        <p:spPr>
          <a:xfrm>
            <a:off x="6464880" y="2034720"/>
            <a:ext cx="159984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1000" strike="noStrike" u="none">
                <a:solidFill>
                  <a:srgbClr val="081b26"/>
                </a:solidFill>
                <a:effectLst/>
                <a:uFillTx/>
                <a:latin typeface="Arial"/>
              </a:rPr>
              <a:t>J4 CLOSED / LOW</a:t>
            </a:r>
            <a:endParaRPr b="0" lang="uk-UA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TextBox 18"/>
          <p:cNvSpPr/>
          <p:nvPr/>
        </p:nvSpPr>
        <p:spPr>
          <a:xfrm>
            <a:off x="6464880" y="2578680"/>
            <a:ext cx="3840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900" strike="noStrike" u="none">
                <a:solidFill>
                  <a:srgbClr val="10232e"/>
                </a:solidFill>
                <a:effectLst/>
                <a:uFillTx/>
                <a:latin typeface="Bahnschrift"/>
              </a:rPr>
              <a:t>Wi-Fi + MQTT</a:t>
            </a:r>
            <a:endParaRPr b="0" lang="uk-UA" sz="2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TextBox 19"/>
          <p:cNvSpPr/>
          <p:nvPr/>
        </p:nvSpPr>
        <p:spPr>
          <a:xfrm>
            <a:off x="6464880" y="3099960"/>
            <a:ext cx="4434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400" strike="noStrike" u="none">
                <a:solidFill>
                  <a:srgbClr val="087f6c"/>
                </a:solidFill>
                <a:effectLst/>
                <a:uFillTx/>
                <a:latin typeface="Arial"/>
              </a:rPr>
              <a:t>Зручна інтеграція з інфраструктурою</a:t>
            </a:r>
            <a:endParaRPr b="0" lang="uk-UA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TextBox 20"/>
          <p:cNvSpPr/>
          <p:nvPr/>
        </p:nvSpPr>
        <p:spPr>
          <a:xfrm>
            <a:off x="6464880" y="3620880"/>
            <a:ext cx="4525920" cy="169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  <a:spcAft>
                <a:spcPts val="799"/>
              </a:spcAft>
            </a:pPr>
            <a:r>
              <a:rPr b="1" lang="en-US" sz="1250" strike="noStrike" u="none">
                <a:solidFill>
                  <a:srgbClr val="55bef0"/>
                </a:solidFill>
                <a:effectLst/>
                <a:uFillTx/>
                <a:latin typeface="Arial"/>
              </a:rPr>
              <a:t>•  </a:t>
            </a:r>
            <a:r>
              <a:rPr b="0" lang="en-US" sz="1250" strike="noStrike" u="none">
                <a:solidFill>
                  <a:srgbClr val="28424e"/>
                </a:solidFill>
                <a:effectLst/>
                <a:uFillTx/>
                <a:latin typeface="Arial"/>
              </a:rPr>
              <a:t>JSON • QoS 1 за замовчуванням</a:t>
            </a:r>
            <a:endParaRPr b="0" lang="uk-UA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99"/>
              </a:spcAft>
            </a:pPr>
            <a:r>
              <a:rPr b="1" lang="en-US" sz="1250" strike="noStrike" u="none">
                <a:solidFill>
                  <a:srgbClr val="55bef0"/>
                </a:solidFill>
                <a:effectLst/>
                <a:uFillTx/>
                <a:latin typeface="Arial"/>
              </a:rPr>
              <a:t>•  </a:t>
            </a:r>
            <a:r>
              <a:rPr b="0" lang="en-US" sz="1250" strike="noStrike" u="none">
                <a:solidFill>
                  <a:srgbClr val="28424e"/>
                </a:solidFill>
                <a:effectLst/>
                <a:uFillTx/>
                <a:latin typeface="Arial"/>
              </a:rPr>
              <a:t>mqtts:// + certificate verification</a:t>
            </a:r>
            <a:endParaRPr b="0" lang="uk-UA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99"/>
              </a:spcAft>
            </a:pPr>
            <a:r>
              <a:rPr b="1" lang="en-US" sz="1250" strike="noStrike" u="none">
                <a:solidFill>
                  <a:srgbClr val="55bef0"/>
                </a:solidFill>
                <a:effectLst/>
                <a:uFillTx/>
                <a:latin typeface="Arial"/>
              </a:rPr>
              <a:t>•  </a:t>
            </a:r>
            <a:r>
              <a:rPr b="0" lang="en-US" sz="1250" strike="noStrike" u="none">
                <a:solidFill>
                  <a:srgbClr val="28424e"/>
                </a:solidFill>
                <a:effectLst/>
                <a:uFillTx/>
                <a:latin typeface="Arial"/>
              </a:rPr>
              <a:t>BLE provisioning без credentials</a:t>
            </a:r>
            <a:endParaRPr b="0" lang="uk-UA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99"/>
              </a:spcAft>
            </a:pPr>
            <a:r>
              <a:rPr b="1" lang="en-US" sz="1250" strike="noStrike" u="none">
                <a:solidFill>
                  <a:srgbClr val="55bef0"/>
                </a:solidFill>
                <a:effectLst/>
                <a:uFillTx/>
                <a:latin typeface="Arial"/>
              </a:rPr>
              <a:t>•  </a:t>
            </a:r>
            <a:r>
              <a:rPr b="0" lang="en-US" sz="1250" strike="noStrike" u="none">
                <a:solidFill>
                  <a:srgbClr val="28424e"/>
                </a:solidFill>
                <a:effectLst/>
                <a:uFillTx/>
                <a:latin typeface="Arial"/>
              </a:rPr>
              <a:t>SNTP лише за невалідного RTC</a:t>
            </a:r>
            <a:endParaRPr b="0" lang="uk-UA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99"/>
              </a:spcAft>
            </a:pPr>
            <a:r>
              <a:rPr b="1" lang="en-US" sz="1250" strike="noStrike" u="none">
                <a:solidFill>
                  <a:srgbClr val="55bef0"/>
                </a:solidFill>
                <a:effectLst/>
                <a:uFillTx/>
                <a:latin typeface="Arial"/>
              </a:rPr>
              <a:t>•  </a:t>
            </a:r>
            <a:r>
              <a:rPr b="0" lang="en-US" sz="1250" strike="noStrike" u="none">
                <a:solidFill>
                  <a:srgbClr val="28424e"/>
                </a:solidFill>
                <a:effectLst/>
                <a:uFillTx/>
                <a:latin typeface="Arial"/>
              </a:rPr>
              <a:t>SX1262 одразу переводиться в sleep</a:t>
            </a:r>
            <a:endParaRPr b="0" lang="uk-UA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Rounded Rectangle 21"/>
          <p:cNvSpPr/>
          <p:nvPr/>
        </p:nvSpPr>
        <p:spPr>
          <a:xfrm>
            <a:off x="6464880" y="5413320"/>
            <a:ext cx="2834280" cy="292320"/>
          </a:xfrm>
          <a:prstGeom prst="roundRect">
            <a:avLst>
              <a:gd name="adj" fmla="val 12000"/>
            </a:avLst>
          </a:prstGeom>
          <a:solidFill>
            <a:srgbClr val="e1f2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6" name="TextBox 22"/>
          <p:cNvSpPr/>
          <p:nvPr/>
        </p:nvSpPr>
        <p:spPr>
          <a:xfrm>
            <a:off x="6464880" y="5418000"/>
            <a:ext cx="283428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900" strike="noStrike" u="none">
                <a:solidFill>
                  <a:srgbClr val="28424e"/>
                </a:solidFill>
                <a:effectLst/>
                <a:uFillTx/>
                <a:latin typeface="Arial"/>
              </a:rPr>
              <a:t>3 TOPICS: telemetry / events / status</a:t>
            </a:r>
            <a:endParaRPr b="0" lang="uk-UA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TextBox 1"/>
          <p:cNvSpPr/>
          <p:nvPr/>
        </p:nvSpPr>
        <p:spPr>
          <a:xfrm>
            <a:off x="594360" y="329040"/>
            <a:ext cx="5303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950" strike="noStrike" u="none">
                <a:solidFill>
                  <a:srgbClr val="20c9a6"/>
                </a:solidFill>
                <a:effectLst/>
                <a:uFillTx/>
                <a:latin typeface="Arial"/>
              </a:rPr>
              <a:t>08 / ДАНІ</a:t>
            </a:r>
            <a:endParaRPr b="0" lang="uk-UA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8" name="TextBox 2"/>
          <p:cNvSpPr/>
          <p:nvPr/>
        </p:nvSpPr>
        <p:spPr>
          <a:xfrm>
            <a:off x="594360" y="658440"/>
            <a:ext cx="109724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f7fafa"/>
                </a:solidFill>
                <a:effectLst/>
                <a:uFillTx/>
                <a:latin typeface="Bahnschrift"/>
              </a:rPr>
              <a:t>Два формати — одна предметна модель</a:t>
            </a:r>
            <a:endParaRPr b="0" lang="uk-UA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9" name="TextBox 3"/>
          <p:cNvSpPr/>
          <p:nvPr/>
        </p:nvSpPr>
        <p:spPr>
          <a:xfrm>
            <a:off x="612720" y="1225440"/>
            <a:ext cx="10789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250" strike="noStrike" u="none">
                <a:solidFill>
                  <a:srgbClr val="9bb0b8"/>
                </a:solidFill>
                <a:effectLst/>
                <a:uFillTx/>
                <a:latin typeface="Arial"/>
              </a:rPr>
              <a:t>telemetry_codec формує payload; transports лише передають готовий буфер.</a:t>
            </a:r>
            <a:endParaRPr b="0" lang="uk-UA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0" name="TextBox 4"/>
          <p:cNvSpPr/>
          <p:nvPr/>
        </p:nvSpPr>
        <p:spPr>
          <a:xfrm>
            <a:off x="603360" y="6537960"/>
            <a:ext cx="53031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850" strike="noStrike" u="none">
                <a:solidFill>
                  <a:srgbClr val="9bb0b8"/>
                </a:solidFill>
                <a:effectLst/>
                <a:uFillTx/>
                <a:latin typeface="Arial"/>
              </a:rPr>
              <a:t>METEOSTATION  /  ФІНАЛЬНИЙ ПРОЄКТ</a:t>
            </a:r>
            <a:endParaRPr b="0" lang="uk-UA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Box 5"/>
          <p:cNvSpPr/>
          <p:nvPr/>
        </p:nvSpPr>
        <p:spPr>
          <a:xfrm>
            <a:off x="11109960" y="6473880"/>
            <a:ext cx="475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1" lang="en-US" sz="1000" strike="noStrike" u="none">
                <a:solidFill>
                  <a:srgbClr val="9bb0b8"/>
                </a:solidFill>
                <a:effectLst/>
                <a:uFillTx/>
                <a:latin typeface="Cascadia Mono"/>
              </a:rPr>
              <a:t>12</a:t>
            </a:r>
            <a:endParaRPr b="0" lang="uk-UA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462" name="Connector 6"/>
          <p:cNvCxnSpPr/>
          <p:nvPr/>
        </p:nvCxnSpPr>
        <p:spPr>
          <a:xfrm>
            <a:off x="594360" y="6391440"/>
            <a:ext cx="11000520" cy="360"/>
          </a:xfrm>
          <a:prstGeom prst="straightConnector1">
            <a:avLst/>
          </a:prstGeom>
          <a:ln w="10160">
            <a:solidFill>
              <a:srgbClr val="28434d"/>
            </a:solidFill>
            <a:round/>
          </a:ln>
        </p:spPr>
      </p:cxnSp>
      <p:sp>
        <p:nvSpPr>
          <p:cNvPr id="463" name="Rounded Rectangle 7"/>
          <p:cNvSpPr/>
          <p:nvPr/>
        </p:nvSpPr>
        <p:spPr>
          <a:xfrm>
            <a:off x="658440" y="1764720"/>
            <a:ext cx="4663080" cy="4132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4" name="Rounded Rectangle 8"/>
          <p:cNvSpPr/>
          <p:nvPr/>
        </p:nvSpPr>
        <p:spPr>
          <a:xfrm>
            <a:off x="932760" y="2011680"/>
            <a:ext cx="1298160" cy="292320"/>
          </a:xfrm>
          <a:prstGeom prst="roundRect">
            <a:avLst>
              <a:gd name="adj" fmla="val 12000"/>
            </a:avLst>
          </a:prstGeom>
          <a:solidFill>
            <a:srgbClr val="55be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5" name="TextBox 9"/>
          <p:cNvSpPr/>
          <p:nvPr/>
        </p:nvSpPr>
        <p:spPr>
          <a:xfrm>
            <a:off x="932760" y="2016360"/>
            <a:ext cx="129816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950" strike="noStrike" u="none">
                <a:solidFill>
                  <a:srgbClr val="081b26"/>
                </a:solidFill>
                <a:effectLst/>
                <a:uFillTx/>
                <a:latin typeface="Arial"/>
              </a:rPr>
              <a:t>MQTT / JSON</a:t>
            </a:r>
            <a:endParaRPr b="0" lang="uk-UA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Box 10"/>
          <p:cNvSpPr/>
          <p:nvPr/>
        </p:nvSpPr>
        <p:spPr>
          <a:xfrm>
            <a:off x="932760" y="2505600"/>
            <a:ext cx="3638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600" strike="noStrike" u="none">
                <a:solidFill>
                  <a:srgbClr val="10232e"/>
                </a:solidFill>
                <a:effectLst/>
                <a:uFillTx/>
                <a:latin typeface="Bahnschrift"/>
              </a:rPr>
              <a:t>Людиночитаний формат</a:t>
            </a:r>
            <a:endParaRPr b="0" lang="uk-UA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7" name="TextBox 11"/>
          <p:cNvSpPr/>
          <p:nvPr/>
        </p:nvSpPr>
        <p:spPr>
          <a:xfrm>
            <a:off x="932760" y="2926080"/>
            <a:ext cx="4041360" cy="188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b="0" lang="en-US" sz="1120" strike="noStrike" u="none">
                <a:solidFill>
                  <a:srgbClr val="28424e"/>
                </a:solidFill>
                <a:effectLst/>
                <a:uFillTx/>
                <a:latin typeface="Cascadia Mono"/>
              </a:rPr>
              <a:t>{</a:t>
            </a:r>
            <a:endParaRPr b="0" lang="uk-UA" sz="11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120" strike="noStrike" u="none">
                <a:solidFill>
                  <a:srgbClr val="28424e"/>
                </a:solidFill>
                <a:effectLst/>
                <a:uFillTx/>
                <a:latin typeface="Cascadia Mono"/>
              </a:rPr>
              <a:t>  "schema": 1,</a:t>
            </a:r>
            <a:endParaRPr b="0" lang="uk-UA" sz="11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120" strike="noStrike" u="none">
                <a:solidFill>
                  <a:srgbClr val="28424e"/>
                </a:solidFill>
                <a:effectLst/>
                <a:uFillTx/>
                <a:latin typeface="Cascadia Mono"/>
              </a:rPr>
              <a:t>  "device_id": "meteo-a17c42",</a:t>
            </a:r>
            <a:endParaRPr b="0" lang="uk-UA" sz="11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120" strike="noStrike" u="none">
                <a:solidFill>
                  <a:srgbClr val="28424e"/>
                </a:solidFill>
                <a:effectLst/>
                <a:uFillTx/>
                <a:latin typeface="Cascadia Mono"/>
              </a:rPr>
              <a:t>  "timestamp": 1735689600,</a:t>
            </a:r>
            <a:endParaRPr b="0" lang="uk-UA" sz="11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120" strike="noStrike" u="none">
                <a:solidFill>
                  <a:srgbClr val="28424e"/>
                </a:solidFill>
                <a:effectLst/>
                <a:uFillTx/>
                <a:latin typeface="Cascadia Mono"/>
              </a:rPr>
              <a:t>  "environment": {</a:t>
            </a:r>
            <a:endParaRPr b="0" lang="uk-UA" sz="11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120" strike="noStrike" u="none">
                <a:solidFill>
                  <a:srgbClr val="28424e"/>
                </a:solidFill>
                <a:effectLst/>
                <a:uFillTx/>
                <a:latin typeface="Cascadia Mono"/>
              </a:rPr>
              <a:t>    "temperature_c": 21.54,</a:t>
            </a:r>
            <a:endParaRPr b="0" lang="uk-UA" sz="11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120" strike="noStrike" u="none">
                <a:solidFill>
                  <a:srgbClr val="28424e"/>
                </a:solidFill>
                <a:effectLst/>
                <a:uFillTx/>
                <a:latin typeface="Cascadia Mono"/>
              </a:rPr>
              <a:t>    "humidity_percent": 48.26,</a:t>
            </a:r>
            <a:endParaRPr b="0" lang="uk-UA" sz="11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120" strike="noStrike" u="none">
                <a:solidFill>
                  <a:srgbClr val="28424e"/>
                </a:solidFill>
                <a:effectLst/>
                <a:uFillTx/>
                <a:latin typeface="Cascadia Mono"/>
              </a:rPr>
              <a:t>    "pressure_pa": 100812</a:t>
            </a:r>
            <a:endParaRPr b="0" lang="uk-UA" sz="11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120" strike="noStrike" u="none">
                <a:solidFill>
                  <a:srgbClr val="28424e"/>
                </a:solidFill>
                <a:effectLst/>
                <a:uFillTx/>
                <a:latin typeface="Cascadia Mono"/>
              </a:rPr>
              <a:t>  },</a:t>
            </a:r>
            <a:endParaRPr b="0" lang="uk-UA" sz="11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120" strike="noStrike" u="none">
                <a:solidFill>
                  <a:srgbClr val="28424e"/>
                </a:solidFill>
                <a:effectLst/>
                <a:uFillTx/>
                <a:latin typeface="Cascadia Mono"/>
              </a:rPr>
              <a:t>  "transport": "wifi"</a:t>
            </a:r>
            <a:endParaRPr b="0" lang="uk-UA" sz="11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</a:pPr>
            <a:r>
              <a:rPr b="0" lang="en-US" sz="1120" strike="noStrike" u="none">
                <a:solidFill>
                  <a:srgbClr val="28424e"/>
                </a:solidFill>
                <a:effectLst/>
                <a:uFillTx/>
                <a:latin typeface="Cascadia Mono"/>
              </a:rPr>
              <a:t>}</a:t>
            </a:r>
            <a:endParaRPr b="0" lang="uk-UA" sz="11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8" name="TextBox 12"/>
          <p:cNvSpPr/>
          <p:nvPr/>
        </p:nvSpPr>
        <p:spPr>
          <a:xfrm>
            <a:off x="932760" y="5413320"/>
            <a:ext cx="40413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0" i="1" lang="en-US" sz="950" strike="noStrike" u="none">
                <a:solidFill>
                  <a:srgbClr val="6c838d"/>
                </a:solidFill>
                <a:effectLst/>
                <a:uFillTx/>
                <a:latin typeface="Arial"/>
              </a:rPr>
              <a:t>Фрагмент telemetry; battery / solar додаються за валідності.</a:t>
            </a:r>
            <a:endParaRPr b="0" lang="uk-UA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9" name="Rounded Rectangle 13"/>
          <p:cNvSpPr/>
          <p:nvPr/>
        </p:nvSpPr>
        <p:spPr>
          <a:xfrm>
            <a:off x="5596200" y="1764720"/>
            <a:ext cx="5943240" cy="4132800"/>
          </a:xfrm>
          <a:prstGeom prst="roundRect">
            <a:avLst>
              <a:gd name="adj" fmla="val 12000"/>
            </a:avLst>
          </a:prstGeom>
          <a:solidFill>
            <a:srgbClr val="0d2633"/>
          </a:solidFill>
          <a:ln w="12700">
            <a:solidFill>
              <a:srgbClr val="28434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0" name="Rounded Rectangle 14"/>
          <p:cNvSpPr/>
          <p:nvPr/>
        </p:nvSpPr>
        <p:spPr>
          <a:xfrm>
            <a:off x="5888880" y="2011680"/>
            <a:ext cx="1371240" cy="292320"/>
          </a:xfrm>
          <a:prstGeom prst="roundRect">
            <a:avLst>
              <a:gd name="adj" fmla="val 12000"/>
            </a:avLst>
          </a:prstGeom>
          <a:solidFill>
            <a:srgbClr val="20c9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1" name="TextBox 15"/>
          <p:cNvSpPr/>
          <p:nvPr/>
        </p:nvSpPr>
        <p:spPr>
          <a:xfrm>
            <a:off x="5888880" y="2016360"/>
            <a:ext cx="137124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950" strike="noStrike" u="none">
                <a:solidFill>
                  <a:srgbClr val="081b26"/>
                </a:solidFill>
                <a:effectLst/>
                <a:uFillTx/>
                <a:latin typeface="Arial"/>
              </a:rPr>
              <a:t>LORA / BINARY</a:t>
            </a:r>
            <a:endParaRPr b="0" lang="uk-UA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2" name="TextBox 16"/>
          <p:cNvSpPr/>
          <p:nvPr/>
        </p:nvSpPr>
        <p:spPr>
          <a:xfrm>
            <a:off x="5888880" y="2505600"/>
            <a:ext cx="5120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600" strike="noStrike" u="none">
                <a:solidFill>
                  <a:srgbClr val="f7fafa"/>
                </a:solidFill>
                <a:effectLst/>
                <a:uFillTx/>
                <a:latin typeface="Bahnschrift"/>
              </a:rPr>
              <a:t>Компактний versioned frame</a:t>
            </a:r>
            <a:endParaRPr b="0" lang="uk-UA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3" name="Rectangle 17"/>
          <p:cNvSpPr/>
          <p:nvPr/>
        </p:nvSpPr>
        <p:spPr>
          <a:xfrm>
            <a:off x="5888880" y="3072240"/>
            <a:ext cx="594000" cy="712800"/>
          </a:xfrm>
          <a:prstGeom prst="rect">
            <a:avLst/>
          </a:prstGeom>
          <a:solidFill>
            <a:srgbClr val="20c9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4" name="TextBox 18"/>
          <p:cNvSpPr/>
          <p:nvPr/>
        </p:nvSpPr>
        <p:spPr>
          <a:xfrm>
            <a:off x="5916240" y="3154680"/>
            <a:ext cx="5392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850" strike="noStrike" u="none">
                <a:solidFill>
                  <a:srgbClr val="081b26"/>
                </a:solidFill>
                <a:effectLst/>
                <a:uFillTx/>
                <a:latin typeface="Cascadia Mono"/>
              </a:rPr>
              <a:t>0</a:t>
            </a:r>
            <a:endParaRPr b="0" lang="uk-UA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5" name="TextBox 19"/>
          <p:cNvSpPr/>
          <p:nvPr/>
        </p:nvSpPr>
        <p:spPr>
          <a:xfrm>
            <a:off x="5916240" y="3420000"/>
            <a:ext cx="5392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900" strike="noStrike" u="none">
                <a:solidFill>
                  <a:srgbClr val="081b26"/>
                </a:solidFill>
                <a:effectLst/>
                <a:uFillTx/>
                <a:latin typeface="Cascadia Mono"/>
              </a:rPr>
              <a:t>ver</a:t>
            </a:r>
            <a:endParaRPr b="0" lang="uk-UA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6" name="Rectangle 20"/>
          <p:cNvSpPr/>
          <p:nvPr/>
        </p:nvSpPr>
        <p:spPr>
          <a:xfrm>
            <a:off x="6537960" y="3072240"/>
            <a:ext cx="594000" cy="712800"/>
          </a:xfrm>
          <a:prstGeom prst="rect">
            <a:avLst/>
          </a:prstGeom>
          <a:solidFill>
            <a:srgbClr val="20c9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7" name="TextBox 21"/>
          <p:cNvSpPr/>
          <p:nvPr/>
        </p:nvSpPr>
        <p:spPr>
          <a:xfrm>
            <a:off x="6565320" y="3154680"/>
            <a:ext cx="5392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850" strike="noStrike" u="none">
                <a:solidFill>
                  <a:srgbClr val="081b26"/>
                </a:solidFill>
                <a:effectLst/>
                <a:uFillTx/>
                <a:latin typeface="Cascadia Mono"/>
              </a:rPr>
              <a:t>1</a:t>
            </a:r>
            <a:endParaRPr b="0" lang="uk-UA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8" name="TextBox 22"/>
          <p:cNvSpPr/>
          <p:nvPr/>
        </p:nvSpPr>
        <p:spPr>
          <a:xfrm>
            <a:off x="6565320" y="3420000"/>
            <a:ext cx="5392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900" strike="noStrike" u="none">
                <a:solidFill>
                  <a:srgbClr val="081b26"/>
                </a:solidFill>
                <a:effectLst/>
                <a:uFillTx/>
                <a:latin typeface="Cascadia Mono"/>
              </a:rPr>
              <a:t>type</a:t>
            </a:r>
            <a:endParaRPr b="0" lang="uk-UA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9" name="Rectangle 23"/>
          <p:cNvSpPr/>
          <p:nvPr/>
        </p:nvSpPr>
        <p:spPr>
          <a:xfrm>
            <a:off x="7187040" y="3072240"/>
            <a:ext cx="959760" cy="712800"/>
          </a:xfrm>
          <a:prstGeom prst="rect">
            <a:avLst/>
          </a:prstGeom>
          <a:solidFill>
            <a:srgbClr val="55be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0" name="TextBox 24"/>
          <p:cNvSpPr/>
          <p:nvPr/>
        </p:nvSpPr>
        <p:spPr>
          <a:xfrm>
            <a:off x="7214760" y="3154680"/>
            <a:ext cx="9050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850" strike="noStrike" u="none">
                <a:solidFill>
                  <a:srgbClr val="081b26"/>
                </a:solidFill>
                <a:effectLst/>
                <a:uFillTx/>
                <a:latin typeface="Cascadia Mono"/>
              </a:rPr>
              <a:t>2..5</a:t>
            </a:r>
            <a:endParaRPr b="0" lang="uk-UA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1" name="TextBox 25"/>
          <p:cNvSpPr/>
          <p:nvPr/>
        </p:nvSpPr>
        <p:spPr>
          <a:xfrm>
            <a:off x="7214760" y="3420000"/>
            <a:ext cx="905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900" strike="noStrike" u="none">
                <a:solidFill>
                  <a:srgbClr val="081b26"/>
                </a:solidFill>
                <a:effectLst/>
                <a:uFillTx/>
                <a:latin typeface="Cascadia Mono"/>
              </a:rPr>
              <a:t>device</a:t>
            </a:r>
            <a:endParaRPr b="0" lang="uk-UA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2" name="Rectangle 26"/>
          <p:cNvSpPr/>
          <p:nvPr/>
        </p:nvSpPr>
        <p:spPr>
          <a:xfrm>
            <a:off x="8202240" y="3072240"/>
            <a:ext cx="959760" cy="712800"/>
          </a:xfrm>
          <a:prstGeom prst="rect">
            <a:avLst/>
          </a:prstGeom>
          <a:solidFill>
            <a:srgbClr val="55be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3" name="TextBox 27"/>
          <p:cNvSpPr/>
          <p:nvPr/>
        </p:nvSpPr>
        <p:spPr>
          <a:xfrm>
            <a:off x="8229600" y="3154680"/>
            <a:ext cx="9050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850" strike="noStrike" u="none">
                <a:solidFill>
                  <a:srgbClr val="081b26"/>
                </a:solidFill>
                <a:effectLst/>
                <a:uFillTx/>
                <a:latin typeface="Cascadia Mono"/>
              </a:rPr>
              <a:t>6..9</a:t>
            </a:r>
            <a:endParaRPr b="0" lang="uk-UA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Box 28"/>
          <p:cNvSpPr/>
          <p:nvPr/>
        </p:nvSpPr>
        <p:spPr>
          <a:xfrm>
            <a:off x="8229600" y="3420000"/>
            <a:ext cx="905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900" strike="noStrike" u="none">
                <a:solidFill>
                  <a:srgbClr val="081b26"/>
                </a:solidFill>
                <a:effectLst/>
                <a:uFillTx/>
                <a:latin typeface="Cascadia Mono"/>
              </a:rPr>
              <a:t>time</a:t>
            </a:r>
            <a:endParaRPr b="0" lang="uk-UA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5" name="Rectangle 29"/>
          <p:cNvSpPr/>
          <p:nvPr/>
        </p:nvSpPr>
        <p:spPr>
          <a:xfrm>
            <a:off x="9217080" y="3072240"/>
            <a:ext cx="776880" cy="712800"/>
          </a:xfrm>
          <a:prstGeom prst="rect">
            <a:avLst/>
          </a:prstGeom>
          <a:solidFill>
            <a:srgbClr val="f0b95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6" name="TextBox 30"/>
          <p:cNvSpPr/>
          <p:nvPr/>
        </p:nvSpPr>
        <p:spPr>
          <a:xfrm>
            <a:off x="9244440" y="3154680"/>
            <a:ext cx="7221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850" strike="noStrike" u="none">
                <a:solidFill>
                  <a:srgbClr val="081b26"/>
                </a:solidFill>
                <a:effectLst/>
                <a:uFillTx/>
                <a:latin typeface="Cascadia Mono"/>
              </a:rPr>
              <a:t>10</a:t>
            </a:r>
            <a:endParaRPr b="0" lang="uk-UA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7" name="TextBox 31"/>
          <p:cNvSpPr/>
          <p:nvPr/>
        </p:nvSpPr>
        <p:spPr>
          <a:xfrm>
            <a:off x="9244440" y="3420000"/>
            <a:ext cx="7221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900" strike="noStrike" u="none">
                <a:solidFill>
                  <a:srgbClr val="081b26"/>
                </a:solidFill>
                <a:effectLst/>
                <a:uFillTx/>
                <a:latin typeface="Cascadia Mono"/>
              </a:rPr>
              <a:t>flags</a:t>
            </a:r>
            <a:endParaRPr b="0" lang="uk-UA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8" name="Rectangle 32"/>
          <p:cNvSpPr/>
          <p:nvPr/>
        </p:nvSpPr>
        <p:spPr>
          <a:xfrm>
            <a:off x="10049400" y="3072240"/>
            <a:ext cx="1142640" cy="712800"/>
          </a:xfrm>
          <a:prstGeom prst="rect">
            <a:avLst/>
          </a:prstGeom>
          <a:solidFill>
            <a:srgbClr val="b5dc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9" name="TextBox 33"/>
          <p:cNvSpPr/>
          <p:nvPr/>
        </p:nvSpPr>
        <p:spPr>
          <a:xfrm>
            <a:off x="10076760" y="3154680"/>
            <a:ext cx="1087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850" strike="noStrike" u="none">
                <a:solidFill>
                  <a:srgbClr val="081b26"/>
                </a:solidFill>
                <a:effectLst/>
                <a:uFillTx/>
                <a:latin typeface="Cascadia Mono"/>
              </a:rPr>
              <a:t>…</a:t>
            </a:r>
            <a:endParaRPr b="0" lang="uk-UA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0" name="TextBox 34"/>
          <p:cNvSpPr/>
          <p:nvPr/>
        </p:nvSpPr>
        <p:spPr>
          <a:xfrm>
            <a:off x="10076760" y="3420000"/>
            <a:ext cx="10879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900" strike="noStrike" u="none">
                <a:solidFill>
                  <a:srgbClr val="081b26"/>
                </a:solidFill>
                <a:effectLst/>
                <a:uFillTx/>
                <a:latin typeface="Cascadia Mono"/>
              </a:rPr>
              <a:t>valid data</a:t>
            </a:r>
            <a:endParaRPr b="0" lang="uk-UA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1" name="TextBox 35"/>
          <p:cNvSpPr/>
          <p:nvPr/>
        </p:nvSpPr>
        <p:spPr>
          <a:xfrm>
            <a:off x="5888880" y="4032360"/>
            <a:ext cx="5074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150" strike="noStrike" u="none">
                <a:solidFill>
                  <a:srgbClr val="9bb0b8"/>
                </a:solidFill>
                <a:effectLst/>
                <a:uFillTx/>
                <a:latin typeface="Cascadia Mono"/>
              </a:rPr>
              <a:t>little-endian  •  protocol_version = 1</a:t>
            </a:r>
            <a:endParaRPr b="0" lang="uk-UA" sz="1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2" name="TextBox 36"/>
          <p:cNvSpPr/>
          <p:nvPr/>
        </p:nvSpPr>
        <p:spPr>
          <a:xfrm>
            <a:off x="5888880" y="4599360"/>
            <a:ext cx="14443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000" strike="noStrike" u="none">
                <a:solidFill>
                  <a:srgbClr val="20c9a6"/>
                </a:solidFill>
                <a:effectLst/>
                <a:uFillTx/>
                <a:latin typeface="Bahnschrift"/>
              </a:rPr>
              <a:t>39 B</a:t>
            </a:r>
            <a:endParaRPr b="0" lang="uk-UA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3" name="TextBox 37"/>
          <p:cNvSpPr/>
          <p:nvPr/>
        </p:nvSpPr>
        <p:spPr>
          <a:xfrm>
            <a:off x="5888880" y="4992480"/>
            <a:ext cx="14443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00" strike="noStrike" u="none">
                <a:solidFill>
                  <a:srgbClr val="9bb0b8"/>
                </a:solidFill>
                <a:effectLst/>
                <a:uFillTx/>
                <a:latin typeface="Arial"/>
              </a:rPr>
              <a:t>telemetry max</a:t>
            </a:r>
            <a:endParaRPr b="0" lang="uk-UA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4" name="TextBox 38"/>
          <p:cNvSpPr/>
          <p:nvPr/>
        </p:nvSpPr>
        <p:spPr>
          <a:xfrm>
            <a:off x="7562160" y="4599360"/>
            <a:ext cx="14443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000" strike="noStrike" u="none">
                <a:solidFill>
                  <a:srgbClr val="f7fafa"/>
                </a:solidFill>
                <a:effectLst/>
                <a:uFillTx/>
                <a:latin typeface="Bahnschrift"/>
              </a:rPr>
              <a:t>12/16 B</a:t>
            </a:r>
            <a:endParaRPr b="0" lang="uk-UA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5" name="TextBox 39"/>
          <p:cNvSpPr/>
          <p:nvPr/>
        </p:nvSpPr>
        <p:spPr>
          <a:xfrm>
            <a:off x="7562160" y="4992480"/>
            <a:ext cx="14443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00" strike="noStrike" u="none">
                <a:solidFill>
                  <a:srgbClr val="9bb0b8"/>
                </a:solidFill>
                <a:effectLst/>
                <a:uFillTx/>
                <a:latin typeface="Arial"/>
              </a:rPr>
              <a:t>lightning</a:t>
            </a:r>
            <a:endParaRPr b="0" lang="uk-UA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6" name="TextBox 40"/>
          <p:cNvSpPr/>
          <p:nvPr/>
        </p:nvSpPr>
        <p:spPr>
          <a:xfrm>
            <a:off x="9235440" y="4599360"/>
            <a:ext cx="14443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000" strike="noStrike" u="none">
                <a:solidFill>
                  <a:srgbClr val="f7fafa"/>
                </a:solidFill>
                <a:effectLst/>
                <a:uFillTx/>
                <a:latin typeface="Bahnschrift"/>
              </a:rPr>
              <a:t>15 B</a:t>
            </a:r>
            <a:endParaRPr b="0" lang="uk-UA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7" name="TextBox 41"/>
          <p:cNvSpPr/>
          <p:nvPr/>
        </p:nvSpPr>
        <p:spPr>
          <a:xfrm>
            <a:off x="9235440" y="4992480"/>
            <a:ext cx="14443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00" strike="noStrike" u="none">
                <a:solidFill>
                  <a:srgbClr val="9bb0b8"/>
                </a:solidFill>
                <a:effectLst/>
                <a:uFillTx/>
                <a:latin typeface="Arial"/>
              </a:rPr>
              <a:t>boot</a:t>
            </a:r>
            <a:endParaRPr b="0" lang="uk-UA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8" name="TextBox 42"/>
          <p:cNvSpPr/>
          <p:nvPr/>
        </p:nvSpPr>
        <p:spPr>
          <a:xfrm>
            <a:off x="5888880" y="5376600"/>
            <a:ext cx="50288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b="0" lang="en-US" sz="1050" strike="noStrike" u="none">
                <a:solidFill>
                  <a:srgbClr val="9bb0b8"/>
                </a:solidFill>
                <a:effectLst/>
                <a:uFillTx/>
                <a:latin typeface="Arial"/>
              </a:rPr>
              <a:t>Flags визначають наявність env / battery / solar.</a:t>
            </a:r>
            <a:endParaRPr b="0" lang="uk-UA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</a:pPr>
            <a:r>
              <a:rPr b="0" lang="en-US" sz="1050" strike="noStrike" u="none">
                <a:solidFill>
                  <a:srgbClr val="9bb0b8"/>
                </a:solidFill>
                <a:effectLst/>
                <a:uFillTx/>
                <a:latin typeface="Arial"/>
              </a:rPr>
              <a:t>Невалідний датчик не робить увесь кадр непридатним.</a:t>
            </a:r>
            <a:endParaRPr b="0" lang="uk-UA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TextBox 1"/>
          <p:cNvSpPr/>
          <p:nvPr/>
        </p:nvSpPr>
        <p:spPr>
          <a:xfrm>
            <a:off x="594360" y="329040"/>
            <a:ext cx="5303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950" strike="noStrike" u="none">
                <a:solidFill>
                  <a:srgbClr val="087f6c"/>
                </a:solidFill>
                <a:effectLst/>
                <a:uFillTx/>
                <a:latin typeface="Arial"/>
              </a:rPr>
              <a:t>09 / ЯКІСТЬ РІШЕННЯ</a:t>
            </a:r>
            <a:endParaRPr b="0" lang="uk-UA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TextBox 2"/>
          <p:cNvSpPr/>
          <p:nvPr/>
        </p:nvSpPr>
        <p:spPr>
          <a:xfrm>
            <a:off x="594360" y="658440"/>
            <a:ext cx="109724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0232e"/>
                </a:solidFill>
                <a:effectLst/>
                <a:uFillTx/>
                <a:latin typeface="Bahnschrift"/>
              </a:rPr>
              <a:t>Надійність і безпека закладені в потік</a:t>
            </a:r>
            <a:endParaRPr b="0" lang="uk-U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TextBox 3"/>
          <p:cNvSpPr/>
          <p:nvPr/>
        </p:nvSpPr>
        <p:spPr>
          <a:xfrm>
            <a:off x="612720" y="1225440"/>
            <a:ext cx="10789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250" strike="noStrike" u="none">
                <a:solidFill>
                  <a:srgbClr val="6c838d"/>
                </a:solidFill>
                <a:effectLst/>
                <a:uFillTx/>
                <a:latin typeface="Arial"/>
              </a:rPr>
              <a:t>Система розрахована на відмови окремих датчиків, мережеві затримки та безпечне первинне налаштування.</a:t>
            </a:r>
            <a:endParaRPr b="0" lang="uk-UA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TextBox 4"/>
          <p:cNvSpPr/>
          <p:nvPr/>
        </p:nvSpPr>
        <p:spPr>
          <a:xfrm>
            <a:off x="603360" y="6537960"/>
            <a:ext cx="53031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850" strike="noStrike" u="none">
                <a:solidFill>
                  <a:srgbClr val="6c838d"/>
                </a:solidFill>
                <a:effectLst/>
                <a:uFillTx/>
                <a:latin typeface="Arial"/>
              </a:rPr>
              <a:t>METEOSTATION  /  ФІНАЛЬНИЙ ПРОЄКТ</a:t>
            </a:r>
            <a:endParaRPr b="0" lang="uk-UA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TextBox 5"/>
          <p:cNvSpPr/>
          <p:nvPr/>
        </p:nvSpPr>
        <p:spPr>
          <a:xfrm>
            <a:off x="11109960" y="6473880"/>
            <a:ext cx="475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1" lang="en-US" sz="1000" strike="noStrike" u="none">
                <a:solidFill>
                  <a:srgbClr val="6c838d"/>
                </a:solidFill>
                <a:effectLst/>
                <a:uFillTx/>
                <a:latin typeface="Cascadia Mono"/>
              </a:rPr>
              <a:t>13</a:t>
            </a:r>
            <a:endParaRPr b="0" lang="uk-UA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04" name="Connector 6"/>
          <p:cNvCxnSpPr/>
          <p:nvPr/>
        </p:nvCxnSpPr>
        <p:spPr>
          <a:xfrm>
            <a:off x="594360" y="6391440"/>
            <a:ext cx="11000520" cy="360"/>
          </a:xfrm>
          <a:prstGeom prst="straightConnector1">
            <a:avLst/>
          </a:prstGeom>
          <a:ln w="10160">
            <a:solidFill>
              <a:srgbClr val="d8e3e2"/>
            </a:solidFill>
            <a:round/>
          </a:ln>
        </p:spPr>
      </p:cxnSp>
      <p:sp>
        <p:nvSpPr>
          <p:cNvPr id="505" name="Rounded Rectangle 7"/>
          <p:cNvSpPr/>
          <p:nvPr/>
        </p:nvSpPr>
        <p:spPr>
          <a:xfrm>
            <a:off x="612720" y="1774080"/>
            <a:ext cx="3492720" cy="181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6" name="Rounded Rectangle 8"/>
          <p:cNvSpPr/>
          <p:nvPr/>
        </p:nvSpPr>
        <p:spPr>
          <a:xfrm>
            <a:off x="831960" y="1993320"/>
            <a:ext cx="456840" cy="292320"/>
          </a:xfrm>
          <a:prstGeom prst="roundRect">
            <a:avLst>
              <a:gd name="adj" fmla="val 12000"/>
            </a:avLst>
          </a:prstGeom>
          <a:solidFill>
            <a:srgbClr val="20c9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7" name="TextBox 9"/>
          <p:cNvSpPr/>
          <p:nvPr/>
        </p:nvSpPr>
        <p:spPr>
          <a:xfrm>
            <a:off x="831960" y="1998000"/>
            <a:ext cx="45684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900" strike="noStrike" u="none">
                <a:solidFill>
                  <a:srgbClr val="081b26"/>
                </a:solidFill>
                <a:effectLst/>
                <a:uFillTx/>
                <a:latin typeface="Arial"/>
              </a:rPr>
              <a:t>01</a:t>
            </a:r>
            <a:endParaRPr b="0" lang="uk-UA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TextBox 10"/>
          <p:cNvSpPr/>
          <p:nvPr/>
        </p:nvSpPr>
        <p:spPr>
          <a:xfrm>
            <a:off x="1435680" y="2002680"/>
            <a:ext cx="2340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550" strike="noStrike" u="none">
                <a:solidFill>
                  <a:srgbClr val="10232e"/>
                </a:solidFill>
                <a:effectLst/>
                <a:uFillTx/>
                <a:latin typeface="Bahnschrift"/>
              </a:rPr>
              <a:t>Partial telemetry</a:t>
            </a:r>
            <a:endParaRPr b="0" lang="uk-UA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TextBox 11"/>
          <p:cNvSpPr/>
          <p:nvPr/>
        </p:nvSpPr>
        <p:spPr>
          <a:xfrm>
            <a:off x="831960" y="2523600"/>
            <a:ext cx="30445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140" strike="noStrike" u="none">
                <a:solidFill>
                  <a:srgbClr val="28424e"/>
                </a:solidFill>
                <a:effectLst/>
                <a:uFillTx/>
                <a:latin typeface="Arial"/>
              </a:rPr>
              <a:t>Один failed sensor не блокує решту; validity flags зберігають межі достовірності.</a:t>
            </a:r>
            <a:endParaRPr b="0" lang="uk-UA" sz="11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Rounded Rectangle 12"/>
          <p:cNvSpPr/>
          <p:nvPr/>
        </p:nvSpPr>
        <p:spPr>
          <a:xfrm>
            <a:off x="4343400" y="1774080"/>
            <a:ext cx="3492720" cy="181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1" name="Rounded Rectangle 13"/>
          <p:cNvSpPr/>
          <p:nvPr/>
        </p:nvSpPr>
        <p:spPr>
          <a:xfrm>
            <a:off x="4563000" y="1993320"/>
            <a:ext cx="456840" cy="292320"/>
          </a:xfrm>
          <a:prstGeom prst="roundRect">
            <a:avLst>
              <a:gd name="adj" fmla="val 12000"/>
            </a:avLst>
          </a:prstGeom>
          <a:solidFill>
            <a:srgbClr val="55be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2" name="TextBox 14"/>
          <p:cNvSpPr/>
          <p:nvPr/>
        </p:nvSpPr>
        <p:spPr>
          <a:xfrm>
            <a:off x="4563000" y="1998000"/>
            <a:ext cx="45684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900" strike="noStrike" u="none">
                <a:solidFill>
                  <a:srgbClr val="081b26"/>
                </a:solidFill>
                <a:effectLst/>
                <a:uFillTx/>
                <a:latin typeface="Arial"/>
              </a:rPr>
              <a:t>02</a:t>
            </a:r>
            <a:endParaRPr b="0" lang="uk-UA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TextBox 15"/>
          <p:cNvSpPr/>
          <p:nvPr/>
        </p:nvSpPr>
        <p:spPr>
          <a:xfrm>
            <a:off x="5166360" y="2002680"/>
            <a:ext cx="2340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550" strike="noStrike" u="none">
                <a:solidFill>
                  <a:srgbClr val="10232e"/>
                </a:solidFill>
                <a:effectLst/>
                <a:uFillTx/>
                <a:latin typeface="Bahnschrift"/>
              </a:rPr>
              <a:t>Finite timeouts</a:t>
            </a:r>
            <a:endParaRPr b="0" lang="uk-UA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TextBox 16"/>
          <p:cNvSpPr/>
          <p:nvPr/>
        </p:nvSpPr>
        <p:spPr>
          <a:xfrm>
            <a:off x="4563000" y="2523600"/>
            <a:ext cx="30445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140" strike="noStrike" u="none">
                <a:solidFill>
                  <a:srgbClr val="28424e"/>
                </a:solidFill>
                <a:effectLst/>
                <a:uFillTx/>
                <a:latin typeface="Arial"/>
              </a:rPr>
              <a:t>I²C, Wi-Fi, MQTT, BUSY і LoRa TX мають межі; немає нескінченних retries.</a:t>
            </a:r>
            <a:endParaRPr b="0" lang="uk-UA" sz="11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Rounded Rectangle 17"/>
          <p:cNvSpPr/>
          <p:nvPr/>
        </p:nvSpPr>
        <p:spPr>
          <a:xfrm>
            <a:off x="8074080" y="1774080"/>
            <a:ext cx="3492720" cy="181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6" name="Rounded Rectangle 18"/>
          <p:cNvSpPr/>
          <p:nvPr/>
        </p:nvSpPr>
        <p:spPr>
          <a:xfrm>
            <a:off x="8293680" y="1993320"/>
            <a:ext cx="456840" cy="292320"/>
          </a:xfrm>
          <a:prstGeom prst="roundRect">
            <a:avLst>
              <a:gd name="adj" fmla="val 12000"/>
            </a:avLst>
          </a:prstGeom>
          <a:solidFill>
            <a:srgbClr val="b5dc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7" name="TextBox 19"/>
          <p:cNvSpPr/>
          <p:nvPr/>
        </p:nvSpPr>
        <p:spPr>
          <a:xfrm>
            <a:off x="8293680" y="1998000"/>
            <a:ext cx="45684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900" strike="noStrike" u="none">
                <a:solidFill>
                  <a:srgbClr val="081b26"/>
                </a:solidFill>
                <a:effectLst/>
                <a:uFillTx/>
                <a:latin typeface="Arial"/>
              </a:rPr>
              <a:t>03</a:t>
            </a:r>
            <a:endParaRPr b="0" lang="uk-UA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TextBox 20"/>
          <p:cNvSpPr/>
          <p:nvPr/>
        </p:nvSpPr>
        <p:spPr>
          <a:xfrm>
            <a:off x="8897040" y="2002680"/>
            <a:ext cx="2340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550" strike="noStrike" u="none">
                <a:solidFill>
                  <a:srgbClr val="10232e"/>
                </a:solidFill>
                <a:effectLst/>
                <a:uFillTx/>
                <a:latin typeface="Bahnschrift"/>
              </a:rPr>
              <a:t>Power invariants</a:t>
            </a:r>
            <a:endParaRPr b="0" lang="uk-UA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TextBox 21"/>
          <p:cNvSpPr/>
          <p:nvPr/>
        </p:nvSpPr>
        <p:spPr>
          <a:xfrm>
            <a:off x="8293680" y="2523600"/>
            <a:ext cx="30445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140" strike="noStrike" u="none">
                <a:solidFill>
                  <a:srgbClr val="28424e"/>
                </a:solidFill>
                <a:effectLst/>
                <a:uFillTx/>
                <a:latin typeface="Arial"/>
              </a:rPr>
              <a:t>Перед сном централізовано вимикаються Wi-Fi / BLE та периферія.</a:t>
            </a:r>
            <a:endParaRPr b="0" lang="uk-UA" sz="11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Rounded Rectangle 22"/>
          <p:cNvSpPr/>
          <p:nvPr/>
        </p:nvSpPr>
        <p:spPr>
          <a:xfrm>
            <a:off x="612720" y="3831480"/>
            <a:ext cx="3492720" cy="181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1" name="Rounded Rectangle 23"/>
          <p:cNvSpPr/>
          <p:nvPr/>
        </p:nvSpPr>
        <p:spPr>
          <a:xfrm>
            <a:off x="831960" y="4050720"/>
            <a:ext cx="456840" cy="292320"/>
          </a:xfrm>
          <a:prstGeom prst="roundRect">
            <a:avLst>
              <a:gd name="adj" fmla="val 12000"/>
            </a:avLst>
          </a:prstGeom>
          <a:solidFill>
            <a:srgbClr val="55be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2" name="TextBox 24"/>
          <p:cNvSpPr/>
          <p:nvPr/>
        </p:nvSpPr>
        <p:spPr>
          <a:xfrm>
            <a:off x="831960" y="4055400"/>
            <a:ext cx="45684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900" strike="noStrike" u="none">
                <a:solidFill>
                  <a:srgbClr val="081b26"/>
                </a:solidFill>
                <a:effectLst/>
                <a:uFillTx/>
                <a:latin typeface="Arial"/>
              </a:rPr>
              <a:t>04</a:t>
            </a:r>
            <a:endParaRPr b="0" lang="uk-UA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TextBox 25"/>
          <p:cNvSpPr/>
          <p:nvPr/>
        </p:nvSpPr>
        <p:spPr>
          <a:xfrm>
            <a:off x="1435680" y="4060080"/>
            <a:ext cx="2340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550" strike="noStrike" u="none">
                <a:solidFill>
                  <a:srgbClr val="10232e"/>
                </a:solidFill>
                <a:effectLst/>
                <a:uFillTx/>
                <a:latin typeface="Bahnschrift"/>
              </a:rPr>
              <a:t>MQTT over TLS</a:t>
            </a:r>
            <a:endParaRPr b="0" lang="uk-UA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TextBox 26"/>
          <p:cNvSpPr/>
          <p:nvPr/>
        </p:nvSpPr>
        <p:spPr>
          <a:xfrm>
            <a:off x="831960" y="4581000"/>
            <a:ext cx="30445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140" strike="noStrike" u="none">
                <a:solidFill>
                  <a:srgbClr val="28424e"/>
                </a:solidFill>
                <a:effectLst/>
                <a:uFillTx/>
                <a:latin typeface="Arial"/>
              </a:rPr>
              <a:t>Production — mqtts://; skip certificate verification лише як explicit dev-flag.</a:t>
            </a:r>
            <a:endParaRPr b="0" lang="uk-UA" sz="11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Rounded Rectangle 27"/>
          <p:cNvSpPr/>
          <p:nvPr/>
        </p:nvSpPr>
        <p:spPr>
          <a:xfrm>
            <a:off x="4343400" y="3831480"/>
            <a:ext cx="3492720" cy="181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6" name="Rounded Rectangle 28"/>
          <p:cNvSpPr/>
          <p:nvPr/>
        </p:nvSpPr>
        <p:spPr>
          <a:xfrm>
            <a:off x="4563000" y="4050720"/>
            <a:ext cx="456840" cy="292320"/>
          </a:xfrm>
          <a:prstGeom prst="roundRect">
            <a:avLst>
              <a:gd name="adj" fmla="val 12000"/>
            </a:avLst>
          </a:prstGeom>
          <a:solidFill>
            <a:srgbClr val="20c9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7" name="TextBox 29"/>
          <p:cNvSpPr/>
          <p:nvPr/>
        </p:nvSpPr>
        <p:spPr>
          <a:xfrm>
            <a:off x="4563000" y="4055400"/>
            <a:ext cx="45684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900" strike="noStrike" u="none">
                <a:solidFill>
                  <a:srgbClr val="081b26"/>
                </a:solidFill>
                <a:effectLst/>
                <a:uFillTx/>
                <a:latin typeface="Arial"/>
              </a:rPr>
              <a:t>05</a:t>
            </a:r>
            <a:endParaRPr b="0" lang="uk-UA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TextBox 30"/>
          <p:cNvSpPr/>
          <p:nvPr/>
        </p:nvSpPr>
        <p:spPr>
          <a:xfrm>
            <a:off x="5166360" y="4060080"/>
            <a:ext cx="2340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550" strike="noStrike" u="none">
                <a:solidFill>
                  <a:srgbClr val="10232e"/>
                </a:solidFill>
                <a:effectLst/>
                <a:uFillTx/>
                <a:latin typeface="Bahnschrift"/>
              </a:rPr>
              <a:t>BLE provisioning</a:t>
            </a:r>
            <a:endParaRPr b="0" lang="uk-UA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TextBox 31"/>
          <p:cNvSpPr/>
          <p:nvPr/>
        </p:nvSpPr>
        <p:spPr>
          <a:xfrm>
            <a:off x="4563000" y="4581000"/>
            <a:ext cx="30445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140" strike="noStrike" u="none">
                <a:solidFill>
                  <a:srgbClr val="28424e"/>
                </a:solidFill>
                <a:effectLst/>
                <a:uFillTx/>
                <a:latin typeface="Arial"/>
              </a:rPr>
              <a:t>Per-device PoP із factory MAC; credentials у NVS; секрети не логуються.</a:t>
            </a:r>
            <a:endParaRPr b="0" lang="uk-UA" sz="11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Rounded Rectangle 32"/>
          <p:cNvSpPr/>
          <p:nvPr/>
        </p:nvSpPr>
        <p:spPr>
          <a:xfrm>
            <a:off x="8074080" y="3831480"/>
            <a:ext cx="3492720" cy="181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1" name="Rounded Rectangle 33"/>
          <p:cNvSpPr/>
          <p:nvPr/>
        </p:nvSpPr>
        <p:spPr>
          <a:xfrm>
            <a:off x="8293680" y="4050720"/>
            <a:ext cx="456840" cy="292320"/>
          </a:xfrm>
          <a:prstGeom prst="roundRect">
            <a:avLst>
              <a:gd name="adj" fmla="val 12000"/>
            </a:avLst>
          </a:prstGeom>
          <a:solidFill>
            <a:srgbClr val="f0b95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2" name="TextBox 34"/>
          <p:cNvSpPr/>
          <p:nvPr/>
        </p:nvSpPr>
        <p:spPr>
          <a:xfrm>
            <a:off x="8293680" y="4055400"/>
            <a:ext cx="45684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900" strike="noStrike" u="none">
                <a:solidFill>
                  <a:srgbClr val="081b26"/>
                </a:solidFill>
                <a:effectLst/>
                <a:uFillTx/>
                <a:latin typeface="Arial"/>
              </a:rPr>
              <a:t>06</a:t>
            </a:r>
            <a:endParaRPr b="0" lang="uk-UA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TextBox 35"/>
          <p:cNvSpPr/>
          <p:nvPr/>
        </p:nvSpPr>
        <p:spPr>
          <a:xfrm>
            <a:off x="8897040" y="4060080"/>
            <a:ext cx="2340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550" strike="noStrike" u="none">
                <a:solidFill>
                  <a:srgbClr val="10232e"/>
                </a:solidFill>
                <a:effectLst/>
                <a:uFillTx/>
                <a:latin typeface="Bahnschrift"/>
              </a:rPr>
              <a:t>Захист від збоїв</a:t>
            </a:r>
            <a:endParaRPr b="0" lang="uk-UA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TextBox 36"/>
          <p:cNvSpPr/>
          <p:nvPr/>
        </p:nvSpPr>
        <p:spPr>
          <a:xfrm>
            <a:off x="8293680" y="4581000"/>
            <a:ext cx="30445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140" strike="noStrike" u="none">
                <a:solidFill>
                  <a:srgbClr val="28424e"/>
                </a:solidFill>
                <a:effectLst/>
                <a:uFillTx/>
                <a:latin typeface="Arial"/>
              </a:rPr>
              <a:t>Watchdog і brownout detector enabled; diagnostics рахують помилки.</a:t>
            </a:r>
            <a:endParaRPr b="0" lang="uk-UA" sz="11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TextBox 1"/>
          <p:cNvSpPr/>
          <p:nvPr/>
        </p:nvSpPr>
        <p:spPr>
          <a:xfrm>
            <a:off x="594360" y="329040"/>
            <a:ext cx="5303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950" strike="noStrike" u="none">
                <a:solidFill>
                  <a:srgbClr val="087f6c"/>
                </a:solidFill>
                <a:effectLst/>
                <a:uFillTx/>
                <a:latin typeface="Arial"/>
              </a:rPr>
              <a:t>10 / ПІДСУМОК</a:t>
            </a:r>
            <a:endParaRPr b="0" lang="uk-UA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TextBox 2"/>
          <p:cNvSpPr/>
          <p:nvPr/>
        </p:nvSpPr>
        <p:spPr>
          <a:xfrm>
            <a:off x="594360" y="658440"/>
            <a:ext cx="109724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0232e"/>
                </a:solidFill>
                <a:effectLst/>
                <a:uFillTx/>
                <a:latin typeface="Bahnschrift"/>
              </a:rPr>
              <a:t>Результат і межі поточної версії</a:t>
            </a:r>
            <a:endParaRPr b="0" lang="uk-U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TextBox 3"/>
          <p:cNvSpPr/>
          <p:nvPr/>
        </p:nvSpPr>
        <p:spPr>
          <a:xfrm>
            <a:off x="612720" y="1225440"/>
            <a:ext cx="10789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250" strike="noStrike" u="none">
                <a:solidFill>
                  <a:srgbClr val="6c838d"/>
                </a:solidFill>
                <a:effectLst/>
                <a:uFillTx/>
                <a:latin typeface="Arial"/>
              </a:rPr>
              <a:t>Завершений інженерний прототип V1 — з чесно визначеним обсягом та подальшими кроками.</a:t>
            </a:r>
            <a:endParaRPr b="0" lang="uk-UA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TextBox 4"/>
          <p:cNvSpPr/>
          <p:nvPr/>
        </p:nvSpPr>
        <p:spPr>
          <a:xfrm>
            <a:off x="603360" y="6537960"/>
            <a:ext cx="53031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850" strike="noStrike" u="none">
                <a:solidFill>
                  <a:srgbClr val="6c838d"/>
                </a:solidFill>
                <a:effectLst/>
                <a:uFillTx/>
                <a:latin typeface="Arial"/>
              </a:rPr>
              <a:t>METEOSTATION  /  ФІНАЛЬНИЙ ПРОЄКТ</a:t>
            </a:r>
            <a:endParaRPr b="0" lang="uk-UA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TextBox 5"/>
          <p:cNvSpPr/>
          <p:nvPr/>
        </p:nvSpPr>
        <p:spPr>
          <a:xfrm>
            <a:off x="11109960" y="6473880"/>
            <a:ext cx="475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1" lang="en-US" sz="1000" strike="noStrike" u="none">
                <a:solidFill>
                  <a:srgbClr val="6c838d"/>
                </a:solidFill>
                <a:effectLst/>
                <a:uFillTx/>
                <a:latin typeface="Cascadia Mono"/>
              </a:rPr>
              <a:t>14</a:t>
            </a:r>
            <a:endParaRPr b="0" lang="uk-UA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40" name="Connector 6"/>
          <p:cNvCxnSpPr/>
          <p:nvPr/>
        </p:nvCxnSpPr>
        <p:spPr>
          <a:xfrm>
            <a:off x="594360" y="6391440"/>
            <a:ext cx="11000520" cy="360"/>
          </a:xfrm>
          <a:prstGeom prst="straightConnector1">
            <a:avLst/>
          </a:prstGeom>
          <a:ln w="10160">
            <a:solidFill>
              <a:srgbClr val="d8e3e2"/>
            </a:solidFill>
            <a:round/>
          </a:ln>
        </p:spPr>
      </p:cxnSp>
      <p:sp>
        <p:nvSpPr>
          <p:cNvPr id="541" name="Rounded Rectangle 7"/>
          <p:cNvSpPr/>
          <p:nvPr/>
        </p:nvSpPr>
        <p:spPr>
          <a:xfrm>
            <a:off x="612720" y="1764720"/>
            <a:ext cx="5348880" cy="4251600"/>
          </a:xfrm>
          <a:prstGeom prst="roundRect">
            <a:avLst>
              <a:gd name="adj" fmla="val 12000"/>
            </a:avLst>
          </a:prstGeom>
          <a:solidFill>
            <a:srgbClr val="081b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2" name="Rounded Rectangle 8"/>
          <p:cNvSpPr/>
          <p:nvPr/>
        </p:nvSpPr>
        <p:spPr>
          <a:xfrm>
            <a:off x="905400" y="2039040"/>
            <a:ext cx="1325520" cy="292320"/>
          </a:xfrm>
          <a:prstGeom prst="roundRect">
            <a:avLst>
              <a:gd name="adj" fmla="val 12000"/>
            </a:avLst>
          </a:prstGeom>
          <a:solidFill>
            <a:srgbClr val="20c9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3" name="TextBox 9"/>
          <p:cNvSpPr/>
          <p:nvPr/>
        </p:nvSpPr>
        <p:spPr>
          <a:xfrm>
            <a:off x="905400" y="2043720"/>
            <a:ext cx="13255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950" strike="noStrike" u="none">
                <a:solidFill>
                  <a:srgbClr val="081b26"/>
                </a:solidFill>
                <a:effectLst/>
                <a:uFillTx/>
                <a:latin typeface="Arial"/>
              </a:rPr>
              <a:t>РЕАЛІЗОВАНО</a:t>
            </a:r>
            <a:endParaRPr b="0" lang="uk-UA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TextBox 10"/>
          <p:cNvSpPr/>
          <p:nvPr/>
        </p:nvSpPr>
        <p:spPr>
          <a:xfrm>
            <a:off x="905400" y="2651760"/>
            <a:ext cx="4617360" cy="269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  <a:spcAft>
                <a:spcPts val="1100"/>
              </a:spcAft>
            </a:pPr>
            <a:r>
              <a:rPr b="1" lang="en-US" sz="1220" strike="noStrike" u="none">
                <a:solidFill>
                  <a:srgbClr val="20c9a6"/>
                </a:solidFill>
                <a:effectLst/>
                <a:uFillTx/>
                <a:latin typeface="Arial"/>
              </a:rPr>
              <a:t>•  </a:t>
            </a:r>
            <a:r>
              <a:rPr b="0" lang="en-US" sz="1220" strike="noStrike" u="none">
                <a:solidFill>
                  <a:srgbClr val="f7fafa"/>
                </a:solidFill>
                <a:effectLst/>
                <a:uFillTx/>
                <a:latin typeface="Arial"/>
              </a:rPr>
              <a:t>Дві KiCad-плати та fabrication outputs</a:t>
            </a:r>
            <a:endParaRPr b="0" lang="uk-UA" sz="12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1100"/>
              </a:spcAft>
            </a:pPr>
            <a:r>
              <a:rPr b="1" lang="en-US" sz="1220" strike="noStrike" u="none">
                <a:solidFill>
                  <a:srgbClr val="20c9a6"/>
                </a:solidFill>
                <a:effectLst/>
                <a:uFillTx/>
                <a:latin typeface="Arial"/>
              </a:rPr>
              <a:t>•  </a:t>
            </a:r>
            <a:r>
              <a:rPr b="0" lang="en-US" sz="1220" strike="noStrike" u="none">
                <a:solidFill>
                  <a:srgbClr val="f7fafa"/>
                </a:solidFill>
                <a:effectLst/>
                <a:uFillTx/>
                <a:latin typeface="Arial"/>
              </a:rPr>
              <a:t>ESP-IDF firmware з компонентною структурою</a:t>
            </a:r>
            <a:endParaRPr b="0" lang="uk-UA" sz="12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1100"/>
              </a:spcAft>
            </a:pPr>
            <a:r>
              <a:rPr b="1" lang="en-US" sz="1220" strike="noStrike" u="none">
                <a:solidFill>
                  <a:srgbClr val="20c9a6"/>
                </a:solidFill>
                <a:effectLst/>
                <a:uFillTx/>
                <a:latin typeface="Arial"/>
              </a:rPr>
              <a:t>•  </a:t>
            </a:r>
            <a:r>
              <a:rPr b="0" lang="en-US" sz="1220" strike="noStrike" u="none">
                <a:solidFill>
                  <a:srgbClr val="f7fafa"/>
                </a:solidFill>
                <a:effectLst/>
                <a:uFillTx/>
                <a:latin typeface="Arial"/>
              </a:rPr>
              <a:t>Періодична telemetry + lightning events</a:t>
            </a:r>
            <a:endParaRPr b="0" lang="uk-UA" sz="12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1100"/>
              </a:spcAft>
            </a:pPr>
            <a:r>
              <a:rPr b="1" lang="en-US" sz="1220" strike="noStrike" u="none">
                <a:solidFill>
                  <a:srgbClr val="20c9a6"/>
                </a:solidFill>
                <a:effectLst/>
                <a:uFillTx/>
                <a:latin typeface="Arial"/>
              </a:rPr>
              <a:t>•  </a:t>
            </a:r>
            <a:r>
              <a:rPr b="0" lang="en-US" sz="1220" strike="noStrike" u="none">
                <a:solidFill>
                  <a:srgbClr val="f7fafa"/>
                </a:solidFill>
                <a:effectLst/>
                <a:uFillTx/>
                <a:latin typeface="Arial"/>
              </a:rPr>
              <a:t>LoRa binary та Wi-Fi + MQTT JSON</a:t>
            </a:r>
            <a:endParaRPr b="0" lang="uk-UA" sz="12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1100"/>
              </a:spcAft>
            </a:pPr>
            <a:r>
              <a:rPr b="1" lang="en-US" sz="1220" strike="noStrike" u="none">
                <a:solidFill>
                  <a:srgbClr val="20c9a6"/>
                </a:solidFill>
                <a:effectLst/>
                <a:uFillTx/>
                <a:latin typeface="Arial"/>
              </a:rPr>
              <a:t>•  </a:t>
            </a:r>
            <a:r>
              <a:rPr b="0" lang="en-US" sz="1220" strike="noStrike" u="none">
                <a:solidFill>
                  <a:srgbClr val="f7fafa"/>
                </a:solidFill>
                <a:effectLst/>
                <a:uFillTx/>
                <a:latin typeface="Arial"/>
              </a:rPr>
              <a:t>Deep sleep, USB continuous, BLE provisioning</a:t>
            </a:r>
            <a:endParaRPr b="0" lang="uk-UA" sz="12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Rounded Rectangle 11"/>
          <p:cNvSpPr/>
          <p:nvPr/>
        </p:nvSpPr>
        <p:spPr>
          <a:xfrm>
            <a:off x="6226920" y="1764720"/>
            <a:ext cx="5339880" cy="1974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6" name="Rounded Rectangle 12"/>
          <p:cNvSpPr/>
          <p:nvPr/>
        </p:nvSpPr>
        <p:spPr>
          <a:xfrm>
            <a:off x="6519600" y="2039040"/>
            <a:ext cx="959760" cy="292320"/>
          </a:xfrm>
          <a:prstGeom prst="roundRect">
            <a:avLst>
              <a:gd name="adj" fmla="val 12000"/>
            </a:avLst>
          </a:prstGeom>
          <a:solidFill>
            <a:srgbClr val="f0b95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7" name="TextBox 13"/>
          <p:cNvSpPr/>
          <p:nvPr/>
        </p:nvSpPr>
        <p:spPr>
          <a:xfrm>
            <a:off x="6519600" y="2043720"/>
            <a:ext cx="95976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950" strike="noStrike" u="none">
                <a:solidFill>
                  <a:srgbClr val="081b26"/>
                </a:solidFill>
                <a:effectLst/>
                <a:uFillTx/>
                <a:latin typeface="Arial"/>
              </a:rPr>
              <a:t>МЕЖІ V1</a:t>
            </a:r>
            <a:endParaRPr b="0" lang="uk-UA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TextBox 14"/>
          <p:cNvSpPr/>
          <p:nvPr/>
        </p:nvSpPr>
        <p:spPr>
          <a:xfrm>
            <a:off x="6519600" y="2624400"/>
            <a:ext cx="4534920" cy="85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b="0" lang="en-US" sz="1220" strike="noStrike" u="none">
                <a:solidFill>
                  <a:srgbClr val="28424e"/>
                </a:solidFill>
                <a:effectLst/>
                <a:uFillTx/>
                <a:latin typeface="Arial"/>
              </a:rPr>
              <a:t>Немає backend / web UI / OTA</a:t>
            </a:r>
            <a:endParaRPr b="0" lang="uk-UA" sz="12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220" strike="noStrike" u="none">
                <a:solidFill>
                  <a:srgbClr val="28424e"/>
                </a:solidFill>
                <a:effectLst/>
                <a:uFillTx/>
                <a:latin typeface="Arial"/>
              </a:rPr>
              <a:t>LoRa без RX, ACK, retries і LoRaWAN</a:t>
            </a:r>
            <a:endParaRPr b="0" lang="uk-UA" sz="12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</a:pPr>
            <a:r>
              <a:rPr b="0" lang="en-US" sz="1220" strike="noStrike" u="none">
                <a:solidFill>
                  <a:srgbClr val="28424e"/>
                </a:solidFill>
                <a:effectLst/>
                <a:uFillTx/>
                <a:latin typeface="Arial"/>
              </a:rPr>
              <a:t>Немає persistent telemetry queue</a:t>
            </a:r>
            <a:endParaRPr b="0" lang="uk-UA" sz="12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Rounded Rectangle 15"/>
          <p:cNvSpPr/>
          <p:nvPr/>
        </p:nvSpPr>
        <p:spPr>
          <a:xfrm>
            <a:off x="6226920" y="3986640"/>
            <a:ext cx="5339880" cy="2029680"/>
          </a:xfrm>
          <a:prstGeom prst="roundRect">
            <a:avLst>
              <a:gd name="adj" fmla="val 12000"/>
            </a:avLst>
          </a:prstGeom>
          <a:solidFill>
            <a:srgbClr val="ddf6ef"/>
          </a:solidFill>
          <a:ln w="12700">
            <a:solidFill>
              <a:srgbClr val="d8e3e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0" name="Rounded Rectangle 16"/>
          <p:cNvSpPr/>
          <p:nvPr/>
        </p:nvSpPr>
        <p:spPr>
          <a:xfrm>
            <a:off x="6519600" y="4260960"/>
            <a:ext cx="594000" cy="292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1" name="TextBox 17"/>
          <p:cNvSpPr/>
          <p:nvPr/>
        </p:nvSpPr>
        <p:spPr>
          <a:xfrm>
            <a:off x="6519600" y="4265640"/>
            <a:ext cx="59400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950" strike="noStrike" u="none">
                <a:solidFill>
                  <a:srgbClr val="087f6c"/>
                </a:solidFill>
                <a:effectLst/>
                <a:uFillTx/>
                <a:latin typeface="Arial"/>
              </a:rPr>
              <a:t>ДАЛІ</a:t>
            </a:r>
            <a:endParaRPr b="0" lang="uk-UA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TextBox 18"/>
          <p:cNvSpPr/>
          <p:nvPr/>
        </p:nvSpPr>
        <p:spPr>
          <a:xfrm>
            <a:off x="6519600" y="4818960"/>
            <a:ext cx="4553280" cy="8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b="0" lang="en-US" sz="1220" strike="noStrike" u="none">
                <a:solidFill>
                  <a:srgbClr val="28424e"/>
                </a:solidFill>
                <a:effectLst/>
                <a:uFillTx/>
                <a:latin typeface="Arial"/>
              </a:rPr>
              <a:t>Польові випробування; зниження sleep-струму 405 мкА</a:t>
            </a:r>
            <a:endParaRPr b="0" lang="uk-UA" sz="12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220" strike="noStrike" u="none">
                <a:solidFill>
                  <a:srgbClr val="28424e"/>
                </a:solidFill>
                <a:effectLst/>
                <a:uFillTx/>
                <a:latin typeface="Arial"/>
              </a:rPr>
              <a:t>Візуалізація даних у зовнішньому backend</a:t>
            </a:r>
            <a:endParaRPr b="0" lang="uk-UA" sz="12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</a:pPr>
            <a:r>
              <a:rPr b="0" lang="en-US" sz="1220" strike="noStrike" u="none">
                <a:solidFill>
                  <a:srgbClr val="28424e"/>
                </a:solidFill>
                <a:effectLst/>
                <a:uFillTx/>
                <a:latin typeface="Arial"/>
              </a:rPr>
              <a:t>Оцінка потреби в queue / OTA за результатами</a:t>
            </a:r>
            <a:endParaRPr b="0" lang="uk-UA" sz="12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20c9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4" name="Rounded Rectangle 2"/>
          <p:cNvSpPr/>
          <p:nvPr/>
        </p:nvSpPr>
        <p:spPr>
          <a:xfrm>
            <a:off x="685800" y="603360"/>
            <a:ext cx="1691280" cy="292320"/>
          </a:xfrm>
          <a:prstGeom prst="roundRect">
            <a:avLst>
              <a:gd name="adj" fmla="val 12000"/>
            </a:avLst>
          </a:prstGeom>
          <a:solidFill>
            <a:srgbClr val="0d2633"/>
          </a:solidFill>
          <a:ln w="12700">
            <a:solidFill>
              <a:srgbClr val="28434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5" name="TextBox 3"/>
          <p:cNvSpPr/>
          <p:nvPr/>
        </p:nvSpPr>
        <p:spPr>
          <a:xfrm>
            <a:off x="685800" y="608040"/>
            <a:ext cx="169128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950" strike="noStrike" u="none">
                <a:solidFill>
                  <a:srgbClr val="20c9a6"/>
                </a:solidFill>
                <a:effectLst/>
                <a:uFillTx/>
                <a:latin typeface="Arial"/>
              </a:rPr>
              <a:t>ФІНАЛЬНИЙ ПРОЄКТ</a:t>
            </a:r>
            <a:endParaRPr b="0" lang="uk-UA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6" name="TextBox 4"/>
          <p:cNvSpPr/>
          <p:nvPr/>
        </p:nvSpPr>
        <p:spPr>
          <a:xfrm>
            <a:off x="685800" y="1316880"/>
            <a:ext cx="66290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3600" strike="noStrike" u="none">
                <a:solidFill>
                  <a:srgbClr val="f7fafa"/>
                </a:solidFill>
                <a:effectLst/>
                <a:uFillTx/>
                <a:latin typeface="Bahnschrift"/>
              </a:rPr>
              <a:t>Дякую за увагу</a:t>
            </a:r>
            <a:endParaRPr b="0" lang="uk-UA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7" name="TextBox 5"/>
          <p:cNvSpPr/>
          <p:nvPr/>
        </p:nvSpPr>
        <p:spPr>
          <a:xfrm>
            <a:off x="685800" y="2103120"/>
            <a:ext cx="3657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600" strike="noStrike" u="none">
                <a:solidFill>
                  <a:srgbClr val="20c9a6"/>
                </a:solidFill>
                <a:effectLst/>
                <a:uFillTx/>
                <a:latin typeface="Bahnschrift"/>
              </a:rPr>
              <a:t>Питання?</a:t>
            </a:r>
            <a:endParaRPr b="0" lang="uk-UA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8" name="TextBox 6"/>
          <p:cNvSpPr/>
          <p:nvPr/>
        </p:nvSpPr>
        <p:spPr>
          <a:xfrm>
            <a:off x="722520" y="2944440"/>
            <a:ext cx="4891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600" strike="noStrike" u="none">
                <a:solidFill>
                  <a:srgbClr val="9bb0b8"/>
                </a:solidFill>
                <a:effectLst/>
                <a:uFillTx/>
                <a:latin typeface="Arial"/>
              </a:rPr>
              <a:t>Автономна метеостанція поєднує</a:t>
            </a:r>
            <a:endParaRPr b="0" lang="uk-UA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9" name="Rounded Rectangle 7"/>
          <p:cNvSpPr/>
          <p:nvPr/>
        </p:nvSpPr>
        <p:spPr>
          <a:xfrm>
            <a:off x="685800" y="3529440"/>
            <a:ext cx="2642400" cy="804240"/>
          </a:xfrm>
          <a:prstGeom prst="roundRect">
            <a:avLst>
              <a:gd name="adj" fmla="val 12000"/>
            </a:avLst>
          </a:prstGeom>
          <a:solidFill>
            <a:srgbClr val="0d2633"/>
          </a:solidFill>
          <a:ln w="12700">
            <a:solidFill>
              <a:srgbClr val="28434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0" name="TextBox 8"/>
          <p:cNvSpPr/>
          <p:nvPr/>
        </p:nvSpPr>
        <p:spPr>
          <a:xfrm>
            <a:off x="859680" y="3657600"/>
            <a:ext cx="2285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900" strike="noStrike" u="none">
                <a:solidFill>
                  <a:srgbClr val="20c9a6"/>
                </a:solidFill>
                <a:effectLst/>
                <a:uFillTx/>
                <a:latin typeface="Cascadia Mono"/>
              </a:rPr>
              <a:t>HARDWARE</a:t>
            </a:r>
            <a:endParaRPr b="0" lang="uk-UA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1" name="TextBox 9"/>
          <p:cNvSpPr/>
          <p:nvPr/>
        </p:nvSpPr>
        <p:spPr>
          <a:xfrm>
            <a:off x="859680" y="3959280"/>
            <a:ext cx="2285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50" strike="noStrike" u="none">
                <a:solidFill>
                  <a:srgbClr val="f7fafa"/>
                </a:solidFill>
                <a:effectLst/>
                <a:uFillTx/>
                <a:latin typeface="Arial"/>
              </a:rPr>
              <a:t>2 плати • power • sensors</a:t>
            </a:r>
            <a:endParaRPr b="0" lang="uk-UA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2" name="Rounded Rectangle 10"/>
          <p:cNvSpPr/>
          <p:nvPr/>
        </p:nvSpPr>
        <p:spPr>
          <a:xfrm>
            <a:off x="3566160" y="3529440"/>
            <a:ext cx="2642400" cy="804240"/>
          </a:xfrm>
          <a:prstGeom prst="roundRect">
            <a:avLst>
              <a:gd name="adj" fmla="val 12000"/>
            </a:avLst>
          </a:prstGeom>
          <a:solidFill>
            <a:srgbClr val="0d2633"/>
          </a:solidFill>
          <a:ln w="12700">
            <a:solidFill>
              <a:srgbClr val="28434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3" name="TextBox 11"/>
          <p:cNvSpPr/>
          <p:nvPr/>
        </p:nvSpPr>
        <p:spPr>
          <a:xfrm>
            <a:off x="3740040" y="3657600"/>
            <a:ext cx="2285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900" strike="noStrike" u="none">
                <a:solidFill>
                  <a:srgbClr val="20c9a6"/>
                </a:solidFill>
                <a:effectLst/>
                <a:uFillTx/>
                <a:latin typeface="Cascadia Mono"/>
              </a:rPr>
              <a:t>FIRMWARE</a:t>
            </a:r>
            <a:endParaRPr b="0" lang="uk-UA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4" name="TextBox 12"/>
          <p:cNvSpPr/>
          <p:nvPr/>
        </p:nvSpPr>
        <p:spPr>
          <a:xfrm>
            <a:off x="3740040" y="3959280"/>
            <a:ext cx="2285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50" strike="noStrike" u="none">
                <a:solidFill>
                  <a:srgbClr val="f7fafa"/>
                </a:solidFill>
                <a:effectLst/>
                <a:uFillTx/>
                <a:latin typeface="Arial"/>
              </a:rPr>
              <a:t>C11 • ESP-IDF • FreeRTOS</a:t>
            </a:r>
            <a:endParaRPr b="0" lang="uk-UA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5" name="Rounded Rectangle 13"/>
          <p:cNvSpPr/>
          <p:nvPr/>
        </p:nvSpPr>
        <p:spPr>
          <a:xfrm>
            <a:off x="685800" y="4535280"/>
            <a:ext cx="2642400" cy="804240"/>
          </a:xfrm>
          <a:prstGeom prst="roundRect">
            <a:avLst>
              <a:gd name="adj" fmla="val 12000"/>
            </a:avLst>
          </a:prstGeom>
          <a:solidFill>
            <a:srgbClr val="0d2633"/>
          </a:solidFill>
          <a:ln w="12700">
            <a:solidFill>
              <a:srgbClr val="28434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6" name="TextBox 14"/>
          <p:cNvSpPr/>
          <p:nvPr/>
        </p:nvSpPr>
        <p:spPr>
          <a:xfrm>
            <a:off x="859680" y="4663440"/>
            <a:ext cx="2285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900" strike="noStrike" u="none">
                <a:solidFill>
                  <a:srgbClr val="20c9a6"/>
                </a:solidFill>
                <a:effectLst/>
                <a:uFillTx/>
                <a:latin typeface="Cascadia Mono"/>
              </a:rPr>
              <a:t>DATA</a:t>
            </a:r>
            <a:endParaRPr b="0" lang="uk-UA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7" name="TextBox 15"/>
          <p:cNvSpPr/>
          <p:nvPr/>
        </p:nvSpPr>
        <p:spPr>
          <a:xfrm>
            <a:off x="859680" y="4965120"/>
            <a:ext cx="2285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50" strike="noStrike" u="none">
                <a:solidFill>
                  <a:srgbClr val="f7fafa"/>
                </a:solidFill>
                <a:effectLst/>
                <a:uFillTx/>
                <a:latin typeface="Arial"/>
              </a:rPr>
              <a:t>LoRa binary • MQTT JSON</a:t>
            </a:r>
            <a:endParaRPr b="0" lang="uk-UA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8" name="Rounded Rectangle 16"/>
          <p:cNvSpPr/>
          <p:nvPr/>
        </p:nvSpPr>
        <p:spPr>
          <a:xfrm>
            <a:off x="3566160" y="4535280"/>
            <a:ext cx="2642400" cy="804240"/>
          </a:xfrm>
          <a:prstGeom prst="roundRect">
            <a:avLst>
              <a:gd name="adj" fmla="val 12000"/>
            </a:avLst>
          </a:prstGeom>
          <a:solidFill>
            <a:srgbClr val="0d2633"/>
          </a:solidFill>
          <a:ln w="12700">
            <a:solidFill>
              <a:srgbClr val="28434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9" name="TextBox 17"/>
          <p:cNvSpPr/>
          <p:nvPr/>
        </p:nvSpPr>
        <p:spPr>
          <a:xfrm>
            <a:off x="3740040" y="4663440"/>
            <a:ext cx="2285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900" strike="noStrike" u="none">
                <a:solidFill>
                  <a:srgbClr val="20c9a6"/>
                </a:solidFill>
                <a:effectLst/>
                <a:uFillTx/>
                <a:latin typeface="Cascadia Mono"/>
              </a:rPr>
              <a:t>QUALITY</a:t>
            </a:r>
            <a:endParaRPr b="0" lang="uk-UA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0" name="TextBox 18"/>
          <p:cNvSpPr/>
          <p:nvPr/>
        </p:nvSpPr>
        <p:spPr>
          <a:xfrm>
            <a:off x="3740040" y="4965120"/>
            <a:ext cx="2285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50" strike="noStrike" u="none">
                <a:solidFill>
                  <a:srgbClr val="f7fafa"/>
                </a:solidFill>
                <a:effectLst/>
                <a:uFillTx/>
                <a:latin typeface="Arial"/>
              </a:rPr>
              <a:t>partial telemetry • finite timeouts</a:t>
            </a:r>
            <a:endParaRPr b="0" lang="uk-UA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71" name="Picture 19" descr="main_board_3d.png"/>
          <p:cNvPicPr/>
          <p:nvPr/>
        </p:nvPicPr>
        <p:blipFill>
          <a:blip r:embed="rId1"/>
          <a:stretch/>
        </p:blipFill>
        <p:spPr>
          <a:xfrm>
            <a:off x="6419160" y="1733760"/>
            <a:ext cx="5166000" cy="3436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2" name="TextBox 20"/>
          <p:cNvSpPr/>
          <p:nvPr/>
        </p:nvSpPr>
        <p:spPr>
          <a:xfrm>
            <a:off x="6720840" y="5678280"/>
            <a:ext cx="45259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0" lang="en-US" sz="1200" strike="noStrike" u="none">
                <a:solidFill>
                  <a:srgbClr val="9bb0b8"/>
                </a:solidFill>
                <a:effectLst/>
                <a:uFillTx/>
                <a:latin typeface="Cascadia Mono"/>
              </a:rPr>
              <a:t>wake  →  measure  →  transmit  →  sleep</a:t>
            </a:r>
            <a:endParaRPr b="0" lang="uk-UA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573" name="Connector 21"/>
          <p:cNvCxnSpPr/>
          <p:nvPr/>
        </p:nvCxnSpPr>
        <p:spPr>
          <a:xfrm>
            <a:off x="685800" y="6263640"/>
            <a:ext cx="10863360" cy="360"/>
          </a:xfrm>
          <a:prstGeom prst="straightConnector1">
            <a:avLst/>
          </a:prstGeom>
          <a:ln w="10160">
            <a:solidFill>
              <a:srgbClr val="28434d"/>
            </a:solidFill>
            <a:round/>
          </a:ln>
        </p:spPr>
      </p:cxnSp>
      <p:sp>
        <p:nvSpPr>
          <p:cNvPr id="574" name="TextBox 22"/>
          <p:cNvSpPr/>
          <p:nvPr/>
        </p:nvSpPr>
        <p:spPr>
          <a:xfrm>
            <a:off x="685800" y="6437520"/>
            <a:ext cx="7314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00" strike="noStrike" u="none">
                <a:solidFill>
                  <a:srgbClr val="9bb0b8"/>
                </a:solidFill>
                <a:effectLst/>
                <a:uFillTx/>
                <a:latin typeface="Cascadia Mono"/>
              </a:rPr>
              <a:t>ESP32-C3  /  KiCad  /  ESP-IDF  /  LoRa  /  MQTT</a:t>
            </a:r>
            <a:endParaRPr b="0" lang="uk-UA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5" name="TextBox 23"/>
          <p:cNvSpPr/>
          <p:nvPr/>
        </p:nvSpPr>
        <p:spPr>
          <a:xfrm>
            <a:off x="11082600" y="6391800"/>
            <a:ext cx="475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1" lang="en-US" sz="1000" strike="noStrike" u="none">
                <a:solidFill>
                  <a:srgbClr val="9bb0b8"/>
                </a:solidFill>
                <a:effectLst/>
                <a:uFillTx/>
                <a:latin typeface="Cascadia Mono"/>
              </a:rPr>
              <a:t>15</a:t>
            </a:r>
            <a:endParaRPr b="0" lang="uk-UA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Application>LibreOffice/25.2.7.2$Windows_X86_64 LibreOffice_project/5cbfd1ab6520636bb5f7b99185aa69bd7456825d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Фінальний проєкт курсу</dc:creator>
  <dc:description>Підготовлено за актуальними KiCad-файлами та вихідним кодом репозиторію.</dc:description>
  <cp:keywords>метеостанція ESP32-C3 LoRa MQTT KiCad ESP-IDF</cp:keywords>
  <dc:language>uk-UA</dc:language>
  <cp:lastModifiedBy/>
  <cp:lastPrinted>2026-10-26T18:03:55Z</cp:lastPrinted>
  <dcterms:modified xsi:type="dcterms:W3CDTF">2026-10-26T18:13:41Z</dcterms:modified>
  <cp:revision>3</cp:revision>
  <dc:subject>ESP32-C3, LoRa, MQTT, KiCad, ESP-IDF</dc:subject>
  <dc:title>Автономна метеостанція — фінальний проєкт курсу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